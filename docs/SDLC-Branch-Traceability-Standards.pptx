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SDLC Branch &amp; Traceability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BBBBCC"/>
                </a:solidFill>
                <a:latin typeface="Calibri"/>
              </a:defRPr>
            </a:pPr>
            <a:r>
              <a:t>Branch naming conventions, PR standards, and audit traceability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566160"/>
            <a:ext cx="1828800" cy="4572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Engineering Standards  |  Version 1.0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Traceability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73152" cy="210312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8CFF"/>
                </a:solidFill>
                <a:latin typeface="Calibri"/>
              </a:defRPr>
            </a:pPr>
            <a:r>
              <a:t>Audit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Every code change links back to a requirement,</a:t>
            </a:r>
            <a:br/>
            <a:r>
              <a:t>user story, or defect — providing a clear audit trail</a:t>
            </a:r>
            <a:br/>
            <a:r>
              <a:t>from request to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73152" cy="2103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97B"/>
                </a:solidFill>
                <a:latin typeface="Calibri"/>
              </a:defRPr>
            </a:pPr>
            <a:r>
              <a:t>Change Impact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Trace which features, stories, and bugs are</a:t>
            </a:r>
            <a:br/>
            <a:r>
              <a:t>included in any release. Quickly identify what</a:t>
            </a:r>
            <a:br/>
            <a:r>
              <a:t>changed and why.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21208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80"/>
            <a:ext cx="73152" cy="21031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Calibri"/>
              </a:defRPr>
            </a:pPr>
            <a:r>
              <a:t>Accountability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6344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Clear ownership of changes. Every branch, commit,</a:t>
            </a:r>
            <a:br/>
            <a:r>
              <a:t>and PR is tied to a trackable work item with an</a:t>
            </a:r>
            <a:br/>
            <a:r>
              <a:t>assigned developer.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840480"/>
            <a:ext cx="521208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840480"/>
            <a:ext cx="73152" cy="210312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CFF"/>
                </a:solidFill>
                <a:latin typeface="Calibri"/>
              </a:defRPr>
            </a:pPr>
            <a:r>
              <a:t>Regulatory Requirements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66344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SOC 2, ISO 27001, HIPAA, and SOX audits</a:t>
            </a:r>
            <a:br/>
            <a:r>
              <a:t>require demonstrable change management with</a:t>
            </a:r>
            <a:br/>
            <a:r>
              <a:t>full traceability.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Branch Protection Levels Defined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Two tiers of protection applied via GitHub branch protection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515600" cy="22860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73152" cy="228600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600200"/>
            <a:ext cx="1645920" cy="411480"/>
          </a:xfrm>
          <a:prstGeom prst="roundRect">
            <a:avLst/>
          </a:prstGeom>
          <a:solidFill>
            <a:srgbClr val="FF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184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FULLY PROTECTED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488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PR required for all changes — no direct pushes or commits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50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Minimum 1 reviewer approval before 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75234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All CI/CD status checks must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54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Force pushes and branch deletion are disabled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3558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Signed commits recommended (optional enforcement)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51560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73152" cy="25603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7280" y="4160520"/>
            <a:ext cx="2011680" cy="41148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788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PROTECTED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709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PR required for all changes — no direct pushes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01091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Minimum 1 reviewer approval before merge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31266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CI/CD status checks must 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6144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Force pushes disabled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91616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Branch deletion IS allowed (these are temporary branches)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6217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Relaxed: may allow maintainer override for time-sensitive releases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1600200"/>
            <a:ext cx="5029200" cy="4114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16184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4545"/>
                </a:solidFill>
                <a:latin typeface="Calibri"/>
              </a:defRPr>
            </a:pPr>
            <a:r>
              <a:t>Applies to:  main, develop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160520"/>
            <a:ext cx="5029200" cy="4114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1788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Applies to:  release/*, hotfix/*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Mandatory vs Optional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Not all long-lived branches are required — some depend on your team's Git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50292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029200" cy="54864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1645920" cy="411480"/>
          </a:xfrm>
          <a:prstGeom prst="roundRect">
            <a:avLst/>
          </a:prstGeom>
          <a:solidFill>
            <a:srgbClr val="FF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64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REQUIRED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4545"/>
                </a:solidFill>
                <a:latin typeface="Consolas"/>
              </a:defRPr>
            </a:pPr>
            <a:r>
              <a:t>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97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Production-ready code. Always exists.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17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4545"/>
                </a:solidFill>
                <a:latin typeface="Calibri"/>
              </a:defRPr>
            </a:pPr>
            <a:r>
              <a:t>Protection: Fully Protected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474720"/>
            <a:ext cx="4114800" cy="18288"/>
          </a:xfrm>
          <a:prstGeom prst="rect">
            <a:avLst/>
          </a:prstGeom>
          <a:solidFill>
            <a:srgbClr val="262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657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CFF"/>
                </a:solidFill>
                <a:latin typeface="Consolas"/>
              </a:defRPr>
            </a:pPr>
            <a:r>
              <a:t>feature/* | bugfix/* | hotfix/*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1480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Short-lived branches for individual work items.</a:t>
            </a:r>
            <a:br/>
            <a:r>
              <a:t>Always branch from main or develop.</a:t>
            </a:r>
            <a:br/>
            <a:r>
              <a:t>Always deleted after merge.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463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99"/>
                </a:solidFill>
                <a:latin typeface="Calibri"/>
              </a:defRPr>
            </a:pPr>
            <a:r>
              <a:t>Protection: Not protected (ephemeral)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303520"/>
            <a:ext cx="4572000" cy="9144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492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Calibri"/>
              </a:defRPr>
            </a:pPr>
            <a:r>
              <a:t>Ticket ID in branch name is MANDATORY</a:t>
            </a:r>
            <a:br/>
            <a:r>
              <a:t>for all feature/bugfix/hotfix branches.</a:t>
            </a:r>
            <a:br/>
            <a:r>
              <a:t>This is the primary traceability link.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463040"/>
            <a:ext cx="5029200" cy="50292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463040"/>
            <a:ext cx="5029200" cy="54864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0" y="1645920"/>
            <a:ext cx="2286000" cy="411480"/>
          </a:xfrm>
          <a:prstGeom prst="roundRect">
            <a:avLst/>
          </a:prstGeom>
          <a:solidFill>
            <a:srgbClr val="00C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6642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OPTIONAL (if used, protect 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286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  <a:latin typeface="Consolas"/>
              </a:defRPr>
            </a:pPr>
            <a:r>
              <a:t>develop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69748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Integration branch for teams using Gitflow.</a:t>
            </a:r>
            <a:br/>
            <a:r>
              <a:t>Feature branches merge here before release.</a:t>
            </a:r>
            <a:br/>
            <a:r>
              <a:t>If your team uses trunk-based development</a:t>
            </a:r>
            <a:br/>
            <a:r>
              <a:t>(feature branches merge directly to main),</a:t>
            </a:r>
            <a:br/>
            <a:r>
              <a:t>you do not need this branch.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611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If it exists: Fully Protected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114800"/>
            <a:ext cx="4114800" cy="18288"/>
          </a:xfrm>
          <a:prstGeom prst="rect">
            <a:avLst/>
          </a:prstGeom>
          <a:solidFill>
            <a:srgbClr val="262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297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7B"/>
                </a:solidFill>
                <a:latin typeface="Consolas"/>
              </a:defRPr>
            </a:pPr>
            <a:r>
              <a:t>release/*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70916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Stabilization branch created before a release.</a:t>
            </a:r>
            <a:br/>
            <a:r>
              <a:t>Only needed if you separate release prep from</a:t>
            </a:r>
            <a:br/>
            <a:r>
              <a:t>normal development. Temporary — deleted</a:t>
            </a:r>
            <a:br/>
            <a:r>
              <a:t>after merging to main.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623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If it exists: Standard Protected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6035040"/>
            <a:ext cx="4754880" cy="4114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6053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4545"/>
                </a:solidFill>
                <a:latin typeface="Calibri"/>
              </a:defRPr>
            </a:pPr>
            <a:r>
              <a:t>Rule: If a branch exists, it must be protected.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Branch Naming Convention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515600" cy="13716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344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Standard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C97B"/>
                </a:solidFill>
                <a:latin typeface="Consolas"/>
              </a:defRPr>
            </a:pPr>
            <a:r>
              <a:t>&lt;type&gt;/&lt;ticket-id&gt;-&lt;short-description&gt;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CFF"/>
                </a:solidFill>
                <a:latin typeface="Calibri"/>
              </a:defRPr>
            </a:pPr>
            <a:r>
              <a:t>Optional — with PI and Sprint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40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CFF"/>
                </a:solidFill>
                <a:latin typeface="Consolas"/>
              </a:defRPr>
            </a:pPr>
            <a:r>
              <a:t>&lt;type&gt;/pi&lt;N&gt;-s&lt;N&gt;/&lt;ticket-id&gt;-&lt;short-description&gt;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CFF"/>
                </a:solidFill>
                <a:latin typeface="Calibri"/>
              </a:defRPr>
            </a:pPr>
            <a:r>
              <a:t>PREFIX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CFF"/>
                </a:solidFill>
                <a:latin typeface="Calibri"/>
              </a:defRPr>
            </a:pPr>
            <a:r>
              <a:t>USE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834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CFF"/>
                </a:solidFill>
                <a:latin typeface="Calibri"/>
              </a:defRPr>
            </a:pPr>
            <a:r>
              <a:t>EXAMPLE  (with optional pi/sprint)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154680"/>
            <a:ext cx="10515600" cy="18288"/>
          </a:xfrm>
          <a:prstGeom prst="rect">
            <a:avLst/>
          </a:prstGeom>
          <a:solidFill>
            <a:srgbClr val="262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3246120"/>
            <a:ext cx="10515600" cy="475488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8CFF"/>
                </a:solidFill>
                <a:latin typeface="Consolas"/>
              </a:defRPr>
            </a:pPr>
            <a:r>
              <a:t>feature/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3192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New functionality tied to a user 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192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feature/IS-1234-add-user-profile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94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Consolas"/>
              </a:defRPr>
            </a:pPr>
            <a:r>
              <a:t>integration/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8221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Multi-story feature (integration branch)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8221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integration/IS-200-user-onboarding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51960"/>
            <a:ext cx="10515600" cy="475488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97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onsolas"/>
              </a:defRPr>
            </a:pPr>
            <a:r>
              <a:t>bugfix/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3251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Defect fix from backlog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32511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bugfix/IS-567-fix-login-timeout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00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45"/>
                </a:solidFill>
                <a:latin typeface="Consolas"/>
              </a:defRPr>
            </a:pPr>
            <a:r>
              <a:t>hotfix/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8280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Urgent production fix (branches from main)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82803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hotfix/IS-890-patch-auth-bypass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257800"/>
            <a:ext cx="10515600" cy="475488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88899"/>
                </a:solidFill>
                <a:latin typeface="Consolas"/>
              </a:defRPr>
            </a:pPr>
            <a:r>
              <a:t>chore/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3309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Tech debt, refactoring, CI/CD updates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53309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chore/IS-321-upgrade-spring-boot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806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7B"/>
                </a:solidFill>
                <a:latin typeface="Consolas"/>
              </a:defRPr>
            </a:pPr>
            <a:r>
              <a:t>release/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58338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Release stabilization branch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8338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release/v2.4.0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6400800"/>
            <a:ext cx="10515600" cy="475488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6446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85CFF"/>
                </a:solidFill>
                <a:latin typeface="Calibri"/>
              </a:defRPr>
            </a:pPr>
            <a:r>
              <a:t>with PI/Sprint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64739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Optional namespace for SAFe teams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64739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5CFF"/>
                </a:solidFill>
                <a:latin typeface="Consolas"/>
              </a:defRPr>
            </a:pPr>
            <a:r>
              <a:t>feature/pi3-s2/IS-1234-add-user-profile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6126480"/>
            <a:ext cx="10515600" cy="5029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4476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Rules: 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BBBBCC"/>
                </a:solidFill>
                <a:latin typeface="Calibri"/>
              </a:defRPr>
            </a:pPr>
            <a:r>
              <a:t>Lowercase only  |  Hyphens as separators  |  IS-xxxx ticket ID mandatory  |  PI/Sprint optional  |  Delete after merge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Pull Request Standards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515600" cy="9144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344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PR Title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C97B"/>
                </a:solidFill>
                <a:latin typeface="Consolas"/>
              </a:defRPr>
            </a:pPr>
            <a:r>
              <a:t>&lt;type&gt;(&lt;scope&gt;): &lt;ticket-id&gt; &lt;description&gt;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CFF"/>
                </a:solidFill>
                <a:latin typeface="Calibri"/>
              </a:defRPr>
            </a:pPr>
            <a:r>
              <a:t>EXAMPLES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54864" cy="32004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88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</a:defRPr>
            </a:pPr>
            <a:r>
              <a:t>feat(auth): IS-1234 Add OAuth2 login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54864" cy="3200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</a:defRPr>
            </a:pPr>
            <a:r>
              <a:t>fix(api): IS-567 Resolve timeout on bulk export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54864" cy="32004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86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</a:defRPr>
            </a:pPr>
            <a:r>
              <a:t>hotfix(payments): IS-890 Patch null pointer in refund handler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480560"/>
            <a:ext cx="54864" cy="32004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434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</a:defRPr>
            </a:pPr>
            <a:r>
              <a:t>chore(ci): IS-321 Upgrade to Gradle 8.12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CFF"/>
                </a:solidFill>
                <a:latin typeface="Calibri"/>
              </a:defRPr>
            </a:pPr>
            <a:r>
              <a:t>PR 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Link to ticket/user story in 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At least 1 reviewer approval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All CI checks must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6172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No merge conflicts with target branch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Squash-merge to keep history 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49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Delete source branch after merge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Include test evidence or test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172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Scope: one ticket per PR (preferred)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Commit Message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Follow Conventional Commits (conventionalcommits.org)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Format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C97B"/>
                </a:solidFill>
                <a:latin typeface="Consolas"/>
              </a:defRPr>
            </a:pPr>
            <a:r>
              <a:t>&lt;type&gt;(&lt;scope&gt;): &lt;short summary&gt;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488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BBCC"/>
                </a:solidFill>
                <a:latin typeface="Consolas"/>
              </a:defRPr>
            </a:pPr>
            <a:r>
              <a:t>[optional body — explain WHY, not WHAT]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371600" y="3108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BBCC"/>
                </a:solidFill>
                <a:latin typeface="Consolas"/>
              </a:defRPr>
            </a:pPr>
            <a:r>
              <a:t>[optional footer]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8CFF"/>
                </a:solidFill>
                <a:latin typeface="Consolas"/>
              </a:defRPr>
            </a:pPr>
            <a:r>
              <a:t>Refs: IS-1234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4545"/>
                </a:solidFill>
                <a:latin typeface="Consolas"/>
              </a:defRPr>
            </a:pPr>
            <a:r>
              <a:t>BREAKING CHANGE: &lt;description&gt;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CFF"/>
                </a:solidFill>
                <a:latin typeface="Calibri"/>
              </a:defRPr>
            </a:pPr>
            <a:r>
              <a:t>ALLOWED 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onsolas"/>
              </a:defRPr>
            </a:pPr>
            <a:r>
              <a:t>feat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- New 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onsolas"/>
              </a:defRPr>
            </a:pPr>
            <a:r>
              <a:t>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- Bug 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onsolas"/>
              </a:defRPr>
            </a:pPr>
            <a:r>
              <a:t>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- Documentation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823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onsolas"/>
              </a:defRPr>
            </a:pPr>
            <a:r>
              <a:t>style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7823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- Formatting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7823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onsolas"/>
              </a:defRPr>
            </a:pPr>
            <a:r>
              <a:t>refactor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7823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- Restructure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7823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onsolas"/>
              </a:defRPr>
            </a:pPr>
            <a:r>
              <a:t>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7823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- Add/fix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2978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onsolas"/>
              </a:defRPr>
            </a:pPr>
            <a:r>
              <a:t>chore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12978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- Maintenance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512978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onsolas"/>
              </a:defRPr>
            </a:pPr>
            <a:r>
              <a:t>perf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512978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- Performance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12978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onsolas"/>
              </a:defRPr>
            </a:pPr>
            <a:r>
              <a:t>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12978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- CI/CD changes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114800"/>
            <a:ext cx="5029200" cy="24688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4114800"/>
            <a:ext cx="73152" cy="246888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0" y="4206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CFF"/>
                </a:solidFill>
                <a:latin typeface="Calibri"/>
              </a:defRPr>
            </a:pPr>
            <a:r>
              <a:t>AUTOMATED TICKET INJECTION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572000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Ticket ID in commits is OPTIONAL for developers.</a:t>
            </a:r>
            <a:br/>
            <a:r>
              <a:t>A Git hook (prepare-commit-msg) or CI step</a:t>
            </a:r>
            <a:br/>
            <a:r>
              <a:t>automatically extracts the ticket ID from the</a:t>
            </a:r>
            <a:br/>
            <a:r>
              <a:t>branch name and appends it to each commit.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5349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CFF"/>
                </a:solidFill>
                <a:latin typeface="Calibri"/>
              </a:defRPr>
            </a:pPr>
            <a:r>
              <a:t>How it works: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62356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onsolas"/>
              </a:defRPr>
            </a:pPr>
            <a:r>
              <a:t>1. Dev creates branch: feature/IS-1234-add-profile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587959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onsolas"/>
              </a:defRPr>
            </a:pPr>
            <a:r>
              <a:t>2. Dev commits: feat(user): add profile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6135624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onsolas"/>
              </a:defRPr>
            </a:pPr>
            <a:r>
              <a:t>3. Hook detects IS-1234 from branch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6391656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onsolas"/>
              </a:defRPr>
            </a:pPr>
            <a:r>
              <a:t>4. Commit becomes: feat(user): add profile page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664768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C97B"/>
                </a:solidFill>
                <a:latin typeface="Consolas"/>
              </a:defRPr>
            </a:pPr>
            <a:r>
              <a:t>   Refs: IS-1234   (auto-appended)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943600"/>
            <a:ext cx="5303520" cy="6400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59893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Ticket ID in commits: Optional (manual)</a:t>
            </a:r>
            <a:br/>
            <a:r>
              <a:t>Ticket ID in branch name &amp; PR title: Required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Branch Workflow</a:t>
            </a:r>
          </a:p>
        </p:txBody>
      </p:sp>
      <p:sp>
        <p:nvSpPr>
          <p:cNvPr id="4" name="Oval 3"/>
          <p:cNvSpPr/>
          <p:nvPr/>
        </p:nvSpPr>
        <p:spPr>
          <a:xfrm>
            <a:off x="1051560" y="1371600"/>
            <a:ext cx="548640" cy="548640"/>
          </a:xfrm>
          <a:prstGeom prst="ellipse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03120"/>
            <a:ext cx="1737360" cy="22860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8CFF"/>
                </a:solidFill>
                <a:latin typeface="Calibri"/>
              </a:defRPr>
            </a:pPr>
            <a:r>
              <a:t>Pick Up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5176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Assign user story in</a:t>
            </a:r>
            <a:br/>
            <a:r>
              <a:t>project board.</a:t>
            </a:r>
            <a:br/>
            <a:r>
              <a:t>Status: In Progress</a:t>
            </a:r>
          </a:p>
        </p:txBody>
      </p:sp>
      <p:sp>
        <p:nvSpPr>
          <p:cNvPr id="10" name="Oval 9"/>
          <p:cNvSpPr/>
          <p:nvPr/>
        </p:nvSpPr>
        <p:spPr>
          <a:xfrm>
            <a:off x="2971800" y="1371600"/>
            <a:ext cx="548640" cy="548640"/>
          </a:xfrm>
          <a:prstGeom prst="ellipse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40" y="2103120"/>
            <a:ext cx="1737360" cy="22860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22402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8CFF"/>
                </a:solidFill>
                <a:latin typeface="Calibri"/>
              </a:defRPr>
            </a:pPr>
            <a:r>
              <a:t>Create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65176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Branch from develop:</a:t>
            </a:r>
            <a:br/>
            <a:r>
              <a:t>feature/IS-1234-</a:t>
            </a:r>
            <a:br/>
            <a:r>
              <a:t>add-user-profile</a:t>
            </a:r>
          </a:p>
        </p:txBody>
      </p:sp>
      <p:sp>
        <p:nvSpPr>
          <p:cNvPr id="16" name="Oval 15"/>
          <p:cNvSpPr/>
          <p:nvPr/>
        </p:nvSpPr>
        <p:spPr>
          <a:xfrm>
            <a:off x="4892040" y="1371600"/>
            <a:ext cx="548640" cy="54864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2103120"/>
            <a:ext cx="1737360" cy="22860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22402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C97B"/>
                </a:solidFill>
                <a:latin typeface="Calibri"/>
              </a:defRPr>
            </a:pPr>
            <a:r>
              <a:t>Develop &amp; 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65176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Commit early and often.</a:t>
            </a:r>
            <a:br/>
            <a:r>
              <a:t>Conventional commits.</a:t>
            </a:r>
            <a:br/>
            <a:r>
              <a:t>Ref ticket in footer.</a:t>
            </a:r>
          </a:p>
        </p:txBody>
      </p:sp>
      <p:sp>
        <p:nvSpPr>
          <p:cNvPr id="22" name="Oval 21"/>
          <p:cNvSpPr/>
          <p:nvPr/>
        </p:nvSpPr>
        <p:spPr>
          <a:xfrm>
            <a:off x="6812280" y="1371600"/>
            <a:ext cx="548640" cy="54864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03120"/>
            <a:ext cx="1737360" cy="22860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2402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C97B"/>
                </a:solidFill>
                <a:latin typeface="Calibri"/>
              </a:defRPr>
            </a:pPr>
            <a:r>
              <a:t>Open PR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PR to develop.</a:t>
            </a:r>
            <a:br/>
            <a:r>
              <a:t>Link story in description.</a:t>
            </a:r>
            <a:br/>
            <a:r>
              <a:t>Request reviewer.</a:t>
            </a:r>
          </a:p>
        </p:txBody>
      </p:sp>
      <p:sp>
        <p:nvSpPr>
          <p:cNvPr id="28" name="Oval 27"/>
          <p:cNvSpPr/>
          <p:nvPr/>
        </p:nvSpPr>
        <p:spPr>
          <a:xfrm>
            <a:off x="8732520" y="1371600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252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2103120"/>
            <a:ext cx="1737360" cy="22860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22402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8C00"/>
                </a:solidFill>
                <a:latin typeface="Calibri"/>
              </a:defRPr>
            </a:pPr>
            <a:r>
              <a:t>Review &amp; 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65176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1+ approval required.</a:t>
            </a:r>
            <a:br/>
            <a:r>
              <a:t>CI checks pass.</a:t>
            </a:r>
            <a:br/>
            <a:r>
              <a:t>No merge conflicts.</a:t>
            </a:r>
          </a:p>
        </p:txBody>
      </p:sp>
      <p:sp>
        <p:nvSpPr>
          <p:cNvPr id="34" name="Oval 33"/>
          <p:cNvSpPr/>
          <p:nvPr/>
        </p:nvSpPr>
        <p:spPr>
          <a:xfrm>
            <a:off x="10652760" y="1371600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5276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2103120"/>
            <a:ext cx="1737360" cy="22860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5560" y="22402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8C00"/>
                </a:solidFill>
                <a:latin typeface="Calibri"/>
              </a:defRPr>
            </a:pPr>
            <a:r>
              <a:t>Merge &amp; Clean 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5560" y="265176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Squash-merge to develop.</a:t>
            </a:r>
            <a:br/>
            <a:r>
              <a:t>Delete feature branch.</a:t>
            </a:r>
            <a:br/>
            <a:r>
              <a:t>Story → Done.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754880"/>
            <a:ext cx="10515600" cy="18288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4545"/>
                </a:solidFill>
                <a:latin typeface="Calibri"/>
              </a:defRPr>
            </a:pPr>
            <a:r>
              <a:t>HOTFIX EXCEPTION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212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onsolas"/>
              </a:defRPr>
            </a:pPr>
            <a:r>
              <a:t>1. Branch from main (not develop):  hotfix/IS-890-patch-auth-bypass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5595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2. Fix, test, open PR to main with expedited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590702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3. After merging to main, immediately merge main back to develop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62544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4. Hotfixes still require PR approval — no direct pushes to main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Work Item Hierarchy &amp; Branch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Every feature has at least one user story — the ticket prefix in the branch name determines the pattern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50292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029200" cy="54864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Calibri"/>
              </a:defRPr>
            </a:pPr>
            <a:r>
              <a:t>YOUR WORK ITEM HIERARCHY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03120"/>
            <a:ext cx="4572000" cy="9144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103120"/>
            <a:ext cx="54864" cy="91440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Consolas"/>
              </a:defRPr>
            </a:pPr>
            <a:r>
              <a:t>IS-100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148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CFF"/>
                </a:solidFill>
                <a:latin typeface="Calibri"/>
              </a:defRPr>
            </a:pPr>
            <a:r>
              <a:t>Epic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4505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Strategic initiative or large body of work.</a:t>
            </a:r>
            <a:br/>
            <a:r>
              <a:t>Planning container only — never branched.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2148840"/>
            <a:ext cx="1463040" cy="32004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21671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888899"/>
                </a:solidFill>
                <a:latin typeface="Calibri"/>
              </a:defRPr>
            </a:pPr>
            <a:r>
              <a:t>No Branch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200400"/>
            <a:ext cx="4434840" cy="9144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3200400"/>
            <a:ext cx="54864" cy="9144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246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8CFF"/>
                </a:solidFill>
                <a:latin typeface="Consolas"/>
              </a:defRPr>
            </a:pPr>
            <a:r>
              <a:t>IS-200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246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54787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Deliverable capability within an epic.</a:t>
            </a:r>
            <a:br/>
            <a:r>
              <a:t>Always has 1 or more user stories.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3246120"/>
            <a:ext cx="1463040" cy="32004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3264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Conditional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4297680"/>
            <a:ext cx="4297680" cy="9144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88720" y="4297680"/>
            <a:ext cx="54864" cy="914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343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7B"/>
                </a:solidFill>
                <a:latin typeface="Consolas"/>
              </a:defRPr>
            </a:pPr>
            <a:r>
              <a:t>IS-1234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343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User 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64515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Single piece of user-facing value.</a:t>
            </a:r>
            <a:br/>
            <a:r>
              <a:t>The primary unit of work for developers.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4343400"/>
            <a:ext cx="1463040" cy="320040"/>
          </a:xfrm>
          <a:prstGeom prst="roundRect">
            <a:avLst/>
          </a:prstGeom>
          <a:solidFill>
            <a:srgbClr val="00C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43616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Always Branch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25880" y="5394960"/>
            <a:ext cx="4160520" cy="9144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25880" y="5394960"/>
            <a:ext cx="54864" cy="914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08760" y="5440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88899"/>
                </a:solidFill>
                <a:latin typeface="Consolas"/>
              </a:defRPr>
            </a:pPr>
            <a:r>
              <a:t>IS-5678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440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99"/>
                </a:solidFill>
                <a:latin typeface="Calibri"/>
              </a:defRPr>
            </a:pPr>
            <a:r>
              <a:t>Task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7424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Technical sub-unit of a story.</a:t>
            </a:r>
            <a:br/>
            <a:r>
              <a:t>Usually tracked within the story's branch.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0480" y="5440680"/>
            <a:ext cx="1463040" cy="320040"/>
          </a:xfrm>
          <a:prstGeom prst="roundRect">
            <a:avLst/>
          </a:prstGeom>
          <a:solidFill>
            <a:srgbClr val="888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0" y="54589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Rarely Branch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1463040"/>
            <a:ext cx="5029200" cy="50292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1463040"/>
            <a:ext cx="5029200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16459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8CFF"/>
                </a:solidFill>
                <a:latin typeface="Calibri"/>
              </a:defRPr>
            </a:pPr>
            <a:r>
              <a:t>TWO BRANCHING PATTERNS (both allowed)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2011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The branch type prefix determines the pattern: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2468880"/>
            <a:ext cx="4663440" cy="146304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2468880"/>
            <a:ext cx="54864" cy="146304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83680" y="2560320"/>
            <a:ext cx="1280160" cy="320040"/>
          </a:xfrm>
          <a:prstGeom prst="roundRect">
            <a:avLst/>
          </a:prstGeom>
          <a:solidFill>
            <a:srgbClr val="00C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2578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onsolas"/>
              </a:defRPr>
            </a:pPr>
            <a:r>
              <a:t>feature/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25786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Pattern A — Single Story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297180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Feature has 1 user story.</a:t>
            </a:r>
            <a:br/>
            <a:r>
              <a:t>Branch at story level, PR to main/develop.</a:t>
            </a:r>
            <a:br/>
            <a:br/>
            <a:r>
              <a:t>feature/IS-1234-signup-form → main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4114800"/>
            <a:ext cx="4663440" cy="20116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114800"/>
            <a:ext cx="54864" cy="201168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583680" y="4206240"/>
            <a:ext cx="1645920" cy="32004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0" y="42245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onsolas"/>
              </a:defRPr>
            </a:pPr>
            <a:r>
              <a:t>integration/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2245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Pattern B — Multi-Story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461772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Feature has 2+ user stories.</a:t>
            </a:r>
            <a:br/>
            <a:r>
              <a:t>Integration branch at feature level.</a:t>
            </a:r>
            <a:br/>
            <a:r>
              <a:t>Story branches merge into it.</a:t>
            </a:r>
            <a:br/>
            <a:br/>
            <a:r>
              <a:t>integration/IS-200-onboarding → main</a:t>
            </a:r>
            <a:br/>
            <a:r>
              <a:t>  ← feature/IS-1234-signup</a:t>
            </a:r>
            <a:br/>
            <a:r>
              <a:t>  ← feature/IS-1235-verify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6675120"/>
            <a:ext cx="10515600" cy="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Pattern A: Single-Story Branching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Feature has one user story — branch directly at story level (most common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22860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103120"/>
            <a:ext cx="9144000" cy="36576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45"/>
                </a:solidFill>
                <a:latin typeface="Consolas"/>
              </a:defRPr>
            </a:pPr>
            <a:r>
              <a:t>main / develop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139696"/>
            <a:ext cx="36576" cy="914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3017520"/>
            <a:ext cx="5029200" cy="36576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2139696"/>
            <a:ext cx="36576" cy="914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743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onsolas"/>
              </a:defRPr>
            </a:pPr>
            <a:r>
              <a:t>feature/IS-1234-signup-form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331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5087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99"/>
                </a:solidFill>
                <a:latin typeface="Calibri"/>
              </a:defRPr>
            </a:pPr>
            <a:r>
              <a:t>branch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2331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8899"/>
                </a:solidFill>
                <a:latin typeface="Calibri"/>
              </a:defRPr>
            </a:pPr>
            <a:r>
              <a:t>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508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99"/>
                </a:solidFill>
                <a:latin typeface="Calibri"/>
              </a:defRPr>
            </a:pPr>
            <a:r>
              <a:t>squash-merge PR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5029200" cy="27432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73152" cy="27432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023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7B"/>
                </a:solidFill>
                <a:latin typeface="Calibri"/>
              </a:defRPr>
            </a:pPr>
            <a:r>
              <a:t>WHEN TO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480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Feature maps to exactly 1 user 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280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One developer (or pair) owns the full 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1755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Work can be completed in a single 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5229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Story is independently releasable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943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Calibri"/>
              </a:defRPr>
            </a:pPr>
            <a:r>
              <a:t>This is the default. Use this unless the feature</a:t>
            </a:r>
            <a:br/>
            <a:r>
              <a:t>has multiple stories.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931920"/>
            <a:ext cx="5029200" cy="27432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931920"/>
            <a:ext cx="73152" cy="27432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023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8CFF"/>
                </a:solidFill>
                <a:latin typeface="Calibri"/>
              </a:defRPr>
            </a:pPr>
            <a:r>
              <a:t>LIFECYCLE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CFF"/>
                </a:solidFill>
                <a:latin typeface="Calibri"/>
              </a:defRPr>
            </a:pPr>
            <a:r>
              <a:t>1. Pick up story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434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Assign IS-1234 on project 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188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CFF"/>
                </a:solidFill>
                <a:latin typeface="Calibri"/>
              </a:defRPr>
            </a:pPr>
            <a:r>
              <a:t>2. Create branch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818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feature/IS-1234-signup-form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20293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CFF"/>
                </a:solidFill>
                <a:latin typeface="Calibri"/>
              </a:defRPr>
            </a:pPr>
            <a:r>
              <a:t>3. Develop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2029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Commit with conventional messages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5869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CFF"/>
                </a:solidFill>
                <a:latin typeface="Calibri"/>
              </a:defRPr>
            </a:pPr>
            <a:r>
              <a:t>4. Open PR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5869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feat(auth): IS-1234 Add signup form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971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CFF"/>
                </a:solidFill>
                <a:latin typeface="Calibri"/>
              </a:defRPr>
            </a:pPr>
            <a:r>
              <a:t>5. Review + merge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971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Squash-merge, delete branch, done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Pattern B: Multi-Story Feature Branching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Feature has 2+ user stories — create a feature integration branch, story branches merge into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29260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828800"/>
            <a:ext cx="9144000" cy="36576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463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45"/>
                </a:solidFill>
                <a:latin typeface="Consolas"/>
              </a:defRPr>
            </a:pPr>
            <a:r>
              <a:t>main / develop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865376"/>
            <a:ext cx="36576" cy="73152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2560320"/>
            <a:ext cx="6858000" cy="36576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0" y="1865376"/>
            <a:ext cx="36576" cy="73152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onsolas"/>
              </a:defRPr>
            </a:pPr>
            <a:r>
              <a:t>integration/IS-200-user-onboarding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2596896"/>
            <a:ext cx="36576" cy="64008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3200400"/>
            <a:ext cx="2286000" cy="36576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0" y="2596896"/>
            <a:ext cx="36576" cy="64008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C97B"/>
                </a:solidFill>
                <a:latin typeface="Consolas"/>
              </a:defRPr>
            </a:pPr>
            <a:r>
              <a:t>feature/IS-1234-signup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596896"/>
            <a:ext cx="36576" cy="64008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00400"/>
            <a:ext cx="2286000" cy="36576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0" y="2596896"/>
            <a:ext cx="36576" cy="64008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C97B"/>
                </a:solidFill>
                <a:latin typeface="Consolas"/>
              </a:defRPr>
            </a:pPr>
            <a:r>
              <a:t>feature/IS-1235-verify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1920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920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99"/>
                </a:solidFill>
                <a:latin typeface="Calibri"/>
              </a:defRPr>
            </a:pPr>
            <a:r>
              <a:t>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1463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99"/>
                </a:solidFill>
                <a:latin typeface="Calibri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692640" y="1508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99"/>
                </a:solidFill>
                <a:latin typeface="Calibri"/>
              </a:defRPr>
            </a:pPr>
            <a:r>
              <a:t>final 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657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99"/>
                </a:solidFill>
                <a:latin typeface="Calibri"/>
              </a:defRPr>
            </a:pPr>
            <a:r>
              <a:t>↑ PR into integration branch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99"/>
                </a:solidFill>
                <a:latin typeface="Calibri"/>
              </a:defRPr>
            </a:pPr>
            <a:r>
              <a:t>↑ PR into integration branch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389120"/>
            <a:ext cx="5029200" cy="24688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4389120"/>
            <a:ext cx="73152" cy="246888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80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45"/>
                </a:solidFill>
                <a:latin typeface="Calibri"/>
              </a:defRPr>
            </a:pPr>
            <a:r>
              <a:t>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8920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✓  integration/ prefix triggers this pattern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✓  Story branches PR into integration branch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532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✓  Each story gets its own PR +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8521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✓  Integration branch PRs into main/develop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61722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✓  Integration branch is Standard Protected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4922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✓  Story branches deleted after merge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389120"/>
            <a:ext cx="5029200" cy="24688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4389120"/>
            <a:ext cx="73152" cy="246888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480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7B"/>
                </a:solidFill>
                <a:latin typeface="Calibri"/>
              </a:defRPr>
            </a:pPr>
            <a:r>
              <a:t>WHEN TO USE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892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✓  Feature decomposes into 2 or more user stories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52395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✓  Multiple developers working on the same feature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5869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✓  Stories need to be integrated before release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93445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✓  Feature needs to be tested as a whole before merging to main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63550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Calibri"/>
              </a:defRPr>
            </a:pPr>
            <a:r>
              <a:t>WHY NOT JUST MERGE STORIES DIRECTLY?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66294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Stories may depend on each other. The feature</a:t>
            </a:r>
            <a:br/>
            <a:r>
              <a:t>branch lets you integrate and test them together</a:t>
            </a:r>
            <a:br/>
            <a:r>
              <a:t>before they hit main.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End-to-End Traceability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Every artifact links back to the originating requirement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45920"/>
            <a:ext cx="17373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1737360" cy="54864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85CFF"/>
                </a:solidFill>
                <a:latin typeface="Calibri"/>
              </a:defRPr>
            </a:pPr>
            <a:r>
              <a:t>Epic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onsolas"/>
              </a:defRPr>
            </a:pPr>
            <a:r>
              <a:t>IS-100</a:t>
            </a:r>
            <a:br/>
            <a:r>
              <a:t>Planning only</a:t>
            </a:r>
            <a:br/>
            <a:r>
              <a:t>No branch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651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1645920"/>
            <a:ext cx="17373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0" y="1645920"/>
            <a:ext cx="1737360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18288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CFF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65176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onsolas"/>
              </a:defRPr>
            </a:pPr>
            <a:r>
              <a:t>IS-200</a:t>
            </a:r>
            <a:br/>
            <a:r>
              <a:t>integration/ branch</a:t>
            </a:r>
            <a:br/>
            <a:r>
              <a:t>(if multi-story)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651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645920"/>
            <a:ext cx="17373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645920"/>
            <a:ext cx="1737360" cy="54864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18288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7B"/>
                </a:solidFill>
                <a:latin typeface="Calibri"/>
              </a:defRPr>
            </a:pPr>
            <a:r>
              <a:t>User 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65176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onsolas"/>
              </a:defRPr>
            </a:pPr>
            <a:r>
              <a:t>IS-1234</a:t>
            </a:r>
            <a:br/>
            <a:r>
              <a:t>feature/ branch</a:t>
            </a:r>
            <a:br/>
            <a:r>
              <a:t>(default level)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651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645920"/>
            <a:ext cx="17373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1645920"/>
            <a:ext cx="1737360" cy="54864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8288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97B"/>
                </a:solidFill>
                <a:latin typeface="Calibri"/>
              </a:defRPr>
            </a:pPr>
            <a:r>
              <a:t>Branch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65176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onsolas"/>
              </a:defRPr>
            </a:pPr>
            <a:r>
              <a:t>feature/IS-1234-</a:t>
            </a:r>
            <a:br/>
            <a:r>
              <a:t>add-profile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651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1645920"/>
            <a:ext cx="17373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1645920"/>
            <a:ext cx="173736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8288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8C00"/>
                </a:solidFill>
                <a:latin typeface="Calibri"/>
              </a:defRPr>
            </a:pPr>
            <a:r>
              <a:t>Pull Request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65176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onsolas"/>
              </a:defRPr>
            </a:pPr>
            <a:r>
              <a:t>feat(user): IS-1234</a:t>
            </a:r>
            <a:br/>
            <a:r>
              <a:t>Add user profile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651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66960" y="1645920"/>
            <a:ext cx="17373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66960" y="1645920"/>
            <a:ext cx="1737360" cy="54864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0" y="18288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4545"/>
                </a:solidFill>
                <a:latin typeface="Calibri"/>
              </a:defRPr>
            </a:pPr>
            <a:r>
              <a:t>Release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265176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onsolas"/>
              </a:defRPr>
            </a:pPr>
            <a:r>
              <a:t>release/v2.4.0</a:t>
            </a:r>
            <a:br/>
            <a:r>
              <a:t>Includes: IS-1234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754880"/>
            <a:ext cx="10515600" cy="18288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46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AUDIT QUERIES THIS ENABLES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212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"What code changed for IS-1234?"  →  Search branches &amp; PRs by ticket 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5595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"Who approved the change?"  →  PR approval history with reviewer names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90702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"Which release included this fix?"  →  Release branch contains merged 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62544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"What was the business justification?"  →  PR links to user story with acceptance criteria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Commit Traceability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Developers focus on code — tooling handles traceability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73152" cy="210312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45"/>
                </a:solidFill>
                <a:latin typeface="Calibri"/>
              </a:defRPr>
            </a:pPr>
            <a:r>
              <a:t>REQUIRED (enforced by CI)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Ticket ID in branch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2677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Ticket ID in PR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151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Conventional commit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6265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PR linked to ticket in description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02920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73152" cy="2103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7B"/>
                </a:solidFill>
                <a:latin typeface="Calibri"/>
              </a:defRPr>
            </a:pPr>
            <a:r>
              <a:t>OPTIONAL (handled by automation)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20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Ticket ID in commit message body/footer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677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Refs: footer in each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151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Cross-referencing related tickets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6265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Linking commits to deployment artifacts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490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CFF"/>
                </a:solidFill>
                <a:latin typeface="Calibri"/>
              </a:defRPr>
            </a:pPr>
            <a:r>
              <a:t>AUTOMATION PIPELINE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14800"/>
            <a:ext cx="26517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114800"/>
            <a:ext cx="2651760" cy="54864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94560" y="4251960"/>
            <a:ext cx="731520" cy="32004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427024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LOCAL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51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Calibri"/>
              </a:defRPr>
            </a:pPr>
            <a:r>
              <a:t>prepare-commit-msg</a:t>
            </a:r>
            <a:br/>
            <a:r>
              <a:t>Git Hook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Runs locally on each commit.</a:t>
            </a:r>
            <a:br/>
            <a:r>
              <a:t>Extracts ticket ID from branch</a:t>
            </a:r>
            <a:br/>
            <a:r>
              <a:t>name and appends</a:t>
            </a:r>
            <a:br/>
            <a:r>
              <a:t>Refs: &lt;ticket-id&gt; to the</a:t>
            </a:r>
            <a:br/>
            <a:r>
              <a:t>commit message footer.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029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4114800"/>
            <a:ext cx="26517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83280" y="4114800"/>
            <a:ext cx="2651760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120640" y="4251960"/>
            <a:ext cx="731520" cy="32004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0" y="427024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251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8CFF"/>
                </a:solidFill>
                <a:latin typeface="Calibri"/>
              </a:defRPr>
            </a:pPr>
            <a:r>
              <a:t>Branch Name</a:t>
            </a:r>
            <a:br/>
            <a:r>
              <a:t>Validator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8920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CI step runs on PR open.</a:t>
            </a:r>
            <a:br/>
            <a:r>
              <a:t>Rejects PRs from branches</a:t>
            </a:r>
            <a:br/>
            <a:r>
              <a:t>that don't match the pattern:</a:t>
            </a:r>
            <a:br/>
            <a:r>
              <a:t>&lt;type&gt;/&lt;TICKET-ID&gt;-&lt;desc&gt;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029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4114800"/>
            <a:ext cx="26517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4114800"/>
            <a:ext cx="265176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46720" y="4251960"/>
            <a:ext cx="73152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0" y="427024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251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t>PR Title</a:t>
            </a:r>
            <a:br/>
            <a:r>
              <a:t>Validator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8920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CI step checks PR title</a:t>
            </a:r>
            <a:br/>
            <a:r>
              <a:t>matches conventional format</a:t>
            </a:r>
            <a:br/>
            <a:r>
              <a:t>with ticket ID.</a:t>
            </a:r>
            <a:br/>
            <a:r>
              <a:t>Blocks merge if invalid.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5029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35440" y="4114800"/>
            <a:ext cx="265176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35440" y="4114800"/>
            <a:ext cx="2651760" cy="54864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972800" y="4251960"/>
            <a:ext cx="731520" cy="320040"/>
          </a:xfrm>
          <a:prstGeom prst="roundRect">
            <a:avLst/>
          </a:prstGeom>
          <a:solidFill>
            <a:srgbClr val="00C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0" y="427024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2519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7B"/>
                </a:solidFill>
                <a:latin typeface="Calibri"/>
              </a:defRPr>
            </a:pPr>
            <a:r>
              <a:t>Merge Commit</a:t>
            </a:r>
            <a:br/>
            <a:r>
              <a:t>Tagger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48920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On squash-merge, the merge</a:t>
            </a:r>
            <a:br/>
            <a:r>
              <a:t>commit automatically includes</a:t>
            </a:r>
            <a:br/>
            <a:r>
              <a:t>the PR number and ticket ID</a:t>
            </a:r>
            <a:br/>
            <a:r>
              <a:t>in the final commit message.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5212080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8CFF"/>
                </a:solidFill>
                <a:latin typeface="Calibri"/>
              </a:defRPr>
            </a:pPr>
            <a:r>
              <a:t>BRANCH NAMING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feature/IS-xxxx-short-desc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feature/pi3-s2/IS-xxxx-short-desc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integration/IS-xxxx-short-desc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bugfix/IS-xxxx-short-desc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hotfix/IS-xxxx-short-desc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chore/IS-xxxx-short-desc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release/vX.Y.Z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114800"/>
            <a:ext cx="4389120" cy="18288"/>
          </a:xfrm>
          <a:prstGeom prst="rect">
            <a:avLst/>
          </a:prstGeom>
          <a:solidFill>
            <a:srgbClr val="262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7B"/>
                </a:solidFill>
                <a:latin typeface="Calibri"/>
              </a:defRPr>
            </a:pPr>
            <a:r>
              <a:t>PR TITLE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feat(scope): IS-xxxx Description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166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fix(scope): IS-xxxx 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577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hotfix(scope): IS-xxxx Description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989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chore(scope): IS-xxxx Description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188720"/>
            <a:ext cx="5212080" cy="237744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188720"/>
            <a:ext cx="5212080" cy="54864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7B"/>
                </a:solidFill>
                <a:latin typeface="Calibri"/>
              </a:defRPr>
            </a:pPr>
            <a:r>
              <a:t>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Include ticket ID in branch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One ticket per branch / PR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Squash-merge feature branches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✓  Delete branch after merge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840480"/>
            <a:ext cx="521208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840480"/>
            <a:ext cx="5212080" cy="54864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023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545"/>
                </a:solidFill>
                <a:latin typeface="Calibri"/>
              </a:defRPr>
            </a:pPr>
            <a:r>
              <a:t>DON'T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✗  Push directly to main or develop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✗  Use vague branch names (my-fix, test-2)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✗  Merge without PR approval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✗  Leave stale branches after merge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✗  Skip ticket ID in branch or PR title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Enforcement &amp; Tooling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21208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73152" cy="210312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17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CFF"/>
                </a:solidFill>
                <a:latin typeface="Calibri"/>
              </a:defRPr>
            </a:pPr>
            <a:r>
              <a:t>GitHub Branch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Enforce PR reviews, status checks,</a:t>
            </a:r>
            <a:br/>
            <a:r>
              <a:t>and prevent force pushes on</a:t>
            </a:r>
            <a:br/>
            <a:r>
              <a:t>main and develop.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Consolas"/>
              </a:defRPr>
            </a:pPr>
            <a:r>
              <a:t>Settings → Branches → Add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188720"/>
            <a:ext cx="521208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73152" cy="2103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17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7B"/>
                </a:solidFill>
                <a:latin typeface="Calibri"/>
              </a:defRPr>
            </a:pPr>
            <a:r>
              <a:t>Branch Name Lint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CI job validates branch name</a:t>
            </a:r>
            <a:br/>
            <a:r>
              <a:t>matches regex pattern.</a:t>
            </a:r>
            <a:br/>
            <a:r>
              <a:t>Blocks PR if non-compliant.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Consolas"/>
              </a:defRPr>
            </a:pPr>
            <a:r>
              <a:t>^(feature|integration|bugfix|hotfix|chore|release)/(pi\d+-s\d+/)?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57600"/>
            <a:ext cx="521208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657600"/>
            <a:ext cx="73152" cy="21031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Calibri"/>
              </a:defRPr>
            </a:pPr>
            <a:r>
              <a:t>PR Title Lint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891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GitHub Action or CI step validates</a:t>
            </a:r>
            <a:br/>
            <a:r>
              <a:t>PR title follows conventional</a:t>
            </a:r>
            <a:br/>
            <a:r>
              <a:t>commit format.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212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Consolas"/>
              </a:defRPr>
            </a:pPr>
            <a:r>
              <a:t>commitlint or semantic-pr-title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657600"/>
            <a:ext cx="5212080" cy="21031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657600"/>
            <a:ext cx="73152" cy="210312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85CFF"/>
                </a:solidFill>
                <a:latin typeface="Calibri"/>
              </a:defRPr>
            </a:pPr>
            <a:r>
              <a:t>Commit Message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3891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Calibri"/>
              </a:defRPr>
            </a:pPr>
            <a:r>
              <a:t>pre-commit hook or CI check</a:t>
            </a:r>
            <a:br/>
            <a:r>
              <a:t>enforces conventional commits.</a:t>
            </a:r>
            <a:br/>
            <a:r>
              <a:t>Rejects non-compliant messages.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12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Consolas"/>
              </a:defRPr>
            </a:pPr>
            <a:r>
              <a:t>commitlint + husky (local hooks)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6217920"/>
            <a:ext cx="10515600" cy="45720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623620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t>Automate enforcement wherever possible — convention without enforcement is just a suggestion.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Developer Touchpoints for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Only 2 manual steps required from developers — automation handles the rest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858000" cy="52120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73152" cy="521208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7B"/>
                </a:solidFill>
                <a:latin typeface="Calibri"/>
              </a:defRPr>
            </a:pPr>
            <a:r>
              <a:t>WHAT YOU DO  (2 manual steps)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965960"/>
            <a:ext cx="411480" cy="411480"/>
          </a:xfrm>
          <a:prstGeom prst="roundRect">
            <a:avLst/>
          </a:prstGeom>
          <a:solidFill>
            <a:srgbClr val="00C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8424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Include the ticket ID in your branch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146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C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514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CFF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514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C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514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CFF"/>
                </a:solidFill>
                <a:latin typeface="Calibri"/>
              </a:defRPr>
            </a:pPr>
            <a:r>
              <a:t>EXAMPLE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770632"/>
            <a:ext cx="5943600" cy="18288"/>
          </a:xfrm>
          <a:prstGeom prst="rect">
            <a:avLst/>
          </a:prstGeom>
          <a:solidFill>
            <a:srgbClr val="262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80160" y="2834640"/>
            <a:ext cx="6126480" cy="329184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286207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CFF"/>
                </a:solidFill>
                <a:latin typeface="Consolas"/>
              </a:defRPr>
            </a:pPr>
            <a:r>
              <a:t>feature/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862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IS-1234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86207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User story 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8620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feature/IS-1234-add-profile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2095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85CFF"/>
                </a:solidFill>
                <a:latin typeface="Consolas"/>
              </a:defRPr>
            </a:pPr>
            <a:r>
              <a:t>integration/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2095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IS-200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2095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Feature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095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integration/IS-200-onboarding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80160" y="3529584"/>
            <a:ext cx="6126480" cy="329184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35570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Consolas"/>
              </a:defRPr>
            </a:pPr>
            <a:r>
              <a:t>bugfix/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570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IS-567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5570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Defect 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35570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bugfix/IS-567-fix-login-timeout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90448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4545"/>
                </a:solidFill>
                <a:latin typeface="Consolas"/>
              </a:defRPr>
            </a:pPr>
            <a:r>
              <a:t>hotfix/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90448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IS-890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39044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Defect 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39044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hotfix/IS-890-patch-auth-bypass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80160" y="4224528"/>
            <a:ext cx="6126480" cy="329184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0" y="4251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88899"/>
                </a:solidFill>
                <a:latin typeface="Consolas"/>
              </a:defRPr>
            </a:pPr>
            <a:r>
              <a:t>chore/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4251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IS-321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251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Task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4251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chore/IS-321-upgrade-spring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599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B"/>
                </a:solidFill>
                <a:latin typeface="Consolas"/>
              </a:defRPr>
            </a:pPr>
            <a:r>
              <a:t>release/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45994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onsolas"/>
              </a:defRPr>
            </a:pPr>
            <a:r>
              <a:t>vX.Y.Z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5994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Version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45994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release/v2.4.0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97280" y="4754880"/>
            <a:ext cx="411480" cy="411480"/>
          </a:xfrm>
          <a:prstGeom prst="roundRect">
            <a:avLst/>
          </a:prstGeom>
          <a:solidFill>
            <a:srgbClr val="00C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477316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47548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Include the ticket ID in your PR title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71600" y="5303520"/>
            <a:ext cx="54864" cy="2286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0" y="52578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feat(auth): IS-1234 Add OAuth login flow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0" y="5669280"/>
            <a:ext cx="54864" cy="2286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45920" y="56235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fix(api): IS-567 Resolve timeout on bulk export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71600" y="6035040"/>
            <a:ext cx="54864" cy="22860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45920" y="59893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onsolas"/>
              </a:defRPr>
            </a:pPr>
            <a:r>
              <a:t>hotfix(payments): IS-890 Patch null pointer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1371600"/>
            <a:ext cx="3383280" cy="521208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46720" y="1371600"/>
            <a:ext cx="73152" cy="521208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1463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CFF"/>
                </a:solidFill>
                <a:latin typeface="Calibri"/>
              </a:defRPr>
            </a:pPr>
            <a:r>
              <a:t>AUTOMATION HANDLES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1965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85CFF"/>
                </a:solidFill>
                <a:latin typeface="Calibri"/>
              </a:defRPr>
            </a:pPr>
            <a:r>
              <a:t>Commit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2402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prepare-commit-msg hook</a:t>
            </a:r>
            <a:br/>
            <a:r>
              <a:t>extracts ticket ID from</a:t>
            </a:r>
            <a:br/>
            <a:r>
              <a:t>branch name and appends</a:t>
            </a:r>
            <a:br/>
            <a:r>
              <a:t>Refs: IS-1234 to every</a:t>
            </a:r>
            <a:br/>
            <a:r>
              <a:t>commit automatically.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CFF"/>
                </a:solidFill>
                <a:latin typeface="Calibri"/>
              </a:defRPr>
            </a:pPr>
            <a:r>
              <a:t>Branch name validation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33756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CI rejects PRs from</a:t>
            </a:r>
            <a:br/>
            <a:r>
              <a:t>branches that don't match</a:t>
            </a:r>
            <a:br/>
            <a:r>
              <a:t>the naming pattern.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4160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Calibri"/>
              </a:defRPr>
            </a:pPr>
            <a:r>
              <a:t>PR title validation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443484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CI checks that PR title</a:t>
            </a:r>
            <a:br/>
            <a:r>
              <a:t>follows conventional</a:t>
            </a:r>
            <a:br/>
            <a:r>
              <a:t>format with ticket ID.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5257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alibri"/>
              </a:defRPr>
            </a:pPr>
            <a:r>
              <a:t>Merge commit tagging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55321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Squash-merge commit</a:t>
            </a:r>
            <a:br/>
            <a:r>
              <a:t>automatically includes</a:t>
            </a:r>
            <a:br/>
            <a:r>
              <a:t>PR number and ticket ID.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6720840"/>
            <a:ext cx="10515600" cy="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Open Issue: Feature Branch Traceability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4545"/>
                </a:solidFill>
                <a:latin typeface="Calibri"/>
              </a:defRPr>
            </a:pPr>
            <a:r>
              <a:t>Feature branches can be created and deleted within minutes — losing all traceability of work done against a user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237744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515600" cy="54864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08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45"/>
                </a:solidFill>
                <a:latin typeface="Calibri"/>
              </a:defRPr>
            </a:pPr>
            <a:r>
              <a:t>SCENARIO: TRACEABILITY LOST IN UNDER AN HOUR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920240"/>
            <a:ext cx="1097280" cy="320040"/>
          </a:xfrm>
          <a:prstGeom prst="roundRect">
            <a:avLst/>
          </a:prstGeom>
          <a:solidFill>
            <a:srgbClr val="00C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Create branch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feature/IS-1234-</a:t>
            </a:r>
            <a:br/>
            <a:r>
              <a:t>add-user-profile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BBBCC"/>
                </a:solidFill>
                <a:latin typeface="Calibri"/>
              </a:defRPr>
            </a:pPr>
            <a:r>
              <a:t>Traceability exists:</a:t>
            </a:r>
            <a:br/>
            <a:r>
              <a:t>branch name links to</a:t>
            </a:r>
            <a:br/>
            <a:r>
              <a:t>user story IS-1234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560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0" y="1920240"/>
            <a:ext cx="1097280" cy="32004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0" y="1938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9:15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331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Calibri"/>
              </a:defRPr>
            </a:pPr>
            <a:r>
              <a:t>Commit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feat(user): add profile</a:t>
            </a:r>
            <a:br/>
            <a:r>
              <a:t>feat(user): add avatar</a:t>
            </a:r>
            <a:br/>
            <a:r>
              <a:t>feat(user): add 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246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BBBCC"/>
                </a:solidFill>
                <a:latin typeface="Calibri"/>
              </a:defRPr>
            </a:pPr>
            <a:r>
              <a:t>Commits reference work</a:t>
            </a:r>
            <a:br/>
            <a:r>
              <a:t>but ticket ID is only</a:t>
            </a:r>
            <a:br/>
            <a:r>
              <a:t>in the branch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560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920240"/>
            <a:ext cx="109728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938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9:30 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331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Squash-merge PR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Merge PR #42</a:t>
            </a:r>
            <a:br/>
            <a:r>
              <a:t>Branch auto-deleted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246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BBBCC"/>
                </a:solidFill>
                <a:latin typeface="Calibri"/>
              </a:defRPr>
            </a:pPr>
            <a:r>
              <a:t>Branch name gone.</a:t>
            </a:r>
            <a:br/>
            <a:r>
              <a:t>Ticket ID only in</a:t>
            </a:r>
            <a:br/>
            <a:r>
              <a:t>GitHub PR metadata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560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1920240"/>
            <a:ext cx="1097280" cy="320040"/>
          </a:xfrm>
          <a:prstGeom prst="roundRect">
            <a:avLst/>
          </a:prstGeom>
          <a:solidFill>
            <a:srgbClr val="FF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1938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9:45 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331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4545"/>
                </a:solidFill>
                <a:latin typeface="Calibri"/>
              </a:defRPr>
            </a:pPr>
            <a:r>
              <a:t>Audit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651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onsolas"/>
              </a:defRPr>
            </a:pPr>
            <a:r>
              <a:t>"What code changed</a:t>
            </a:r>
            <a:br/>
            <a:r>
              <a:t>for IS-1234?"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3246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BBBCC"/>
                </a:solidFill>
                <a:latin typeface="Calibri"/>
              </a:defRPr>
            </a:pPr>
            <a:r>
              <a:t>Must search GitHub</a:t>
            </a:r>
            <a:br/>
            <a:r>
              <a:t>PR metadata — not in</a:t>
            </a:r>
            <a:br/>
            <a:r>
              <a:t>Git history itself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023360"/>
            <a:ext cx="502920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" y="4023360"/>
            <a:ext cx="73152" cy="256032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114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45"/>
                </a:solidFill>
                <a:latin typeface="Calibri"/>
              </a:defRPr>
            </a:pPr>
            <a:r>
              <a:t>WHY TRACEABILITY BREAKS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4572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Calibri"/>
              </a:defRPr>
            </a:pPr>
            <a:r>
              <a:t>✗  Branches are not immutable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48280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A Git branch is just a pointer — it can be</a:t>
            </a:r>
            <a:br/>
            <a:r>
              <a:t>created, renamed, or deleted at any time.</a:t>
            </a:r>
            <a:br/>
            <a:r>
              <a:t>There is no durable record that it ever existed.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2303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Calibri"/>
              </a:defRPr>
            </a:pPr>
            <a:r>
              <a:t>✗  Deletion is the standard practice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Our own standard says "delete branch after merge."</a:t>
            </a:r>
            <a:br/>
            <a:r>
              <a:t>This means the ticket ID in the branch name is</a:t>
            </a:r>
            <a:br/>
            <a:r>
              <a:t>intentionally destroyed as part of the workflow.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88873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Calibri"/>
              </a:defRPr>
            </a:pPr>
            <a:r>
              <a:t>✗  Squash-merge erases branch context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61447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The squash commit on main contains no reference</a:t>
            </a:r>
            <a:br/>
            <a:r>
              <a:t>to the original branch name or its ticket ID.</a:t>
            </a:r>
            <a:br/>
            <a:r>
              <a:t>The link only survives in GitHub's PR metadata.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023360"/>
            <a:ext cx="5029200" cy="2560320"/>
          </a:xfrm>
          <a:prstGeom prst="roundRect">
            <a:avLst/>
          </a:prstGeom>
          <a:solidFill>
            <a:srgbClr val="26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023360"/>
            <a:ext cx="73152" cy="25603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97B"/>
                </a:solidFill>
                <a:latin typeface="Calibri"/>
              </a:defRPr>
            </a:pPr>
            <a:r>
              <a:t>PROPOSED SOLUTION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01200" y="4114800"/>
            <a:ext cx="146304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0" y="4133087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TO BE EXPLORED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45262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CI Integration with Audit Logs on Every Branch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49377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We need a CI integration that maintains audit logs</a:t>
            </a:r>
            <a:br/>
            <a:r>
              <a:t>on every branch — capturing the full lifecycle of</a:t>
            </a:r>
            <a:br/>
            <a:r>
              <a:t>development work tied to each user story.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440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97B"/>
                </a:solidFill>
                <a:latin typeface="Calibri"/>
              </a:defRPr>
            </a:pPr>
            <a:r>
              <a:t>CI must log: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0" y="57607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onsolas"/>
              </a:defRPr>
            </a:pPr>
            <a:r>
              <a:t>Branch created  →  who, when, which user story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59893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onsolas"/>
              </a:defRPr>
            </a:pPr>
            <a:r>
              <a:t>Every push       →  commits, changes, author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62179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onsolas"/>
              </a:defRPr>
            </a:pPr>
            <a:r>
              <a:t>PR opened         →  reviewers, linked story, diff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64465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onsolas"/>
              </a:defRPr>
            </a:pPr>
            <a:r>
              <a:t>PR merged         →  approval, final state of work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667512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onsolas"/>
              </a:defRPr>
            </a:pPr>
            <a:r>
              <a:t>Branch deleted  →  when, by whom, merge status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