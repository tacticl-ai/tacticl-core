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SDLC Branch &amp; Traceability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Branch naming conventions, PR standards, and audit traceability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566160"/>
            <a:ext cx="1828800" cy="4572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Engineering Standards  |  Version 1.0  |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Traceability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210312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8CFF"/>
                </a:solidFill>
                <a:latin typeface="Calibri"/>
              </a:defRPr>
            </a:pPr>
            <a:r>
              <a:t>Audit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Every code change links back to a requirement,</a:t>
            </a:r>
            <a:br/>
            <a:r>
              <a:t>user story, or defect — providing a clear audit trail</a:t>
            </a:r>
            <a:br/>
            <a:r>
              <a:t>from request to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73152" cy="2103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  <a:latin typeface="Calibri"/>
              </a:defRPr>
            </a:pPr>
            <a:r>
              <a:t>Change Impact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Trace which features, stories, and bugs are</a:t>
            </a:r>
            <a:br/>
            <a:r>
              <a:t>included in any release. Quickly identify what</a:t>
            </a:r>
            <a:br/>
            <a:r>
              <a:t>changed and why.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73152" cy="2103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Clear ownership of changes. Every branch, commit,</a:t>
            </a:r>
            <a:br/>
            <a:r>
              <a:t>and PR is tied to a trackable work item with an</a:t>
            </a:r>
            <a:br/>
            <a:r>
              <a:t>assigned developer.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84048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840480"/>
            <a:ext cx="73152" cy="210312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Calibri"/>
              </a:defRPr>
            </a:pPr>
            <a:r>
              <a:t>Regulatory 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663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SOC 2, ISO 27001, HIPAA, and SOX audits</a:t>
            </a:r>
            <a:br/>
            <a:r>
              <a:t>require demonstrable change management with</a:t>
            </a:r>
            <a:br/>
            <a:r>
              <a:t>full traceability.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Branch Protection Levels Defined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Two tiers of protection applied via GitHub branch protection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73152" cy="22860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00200"/>
            <a:ext cx="1645920" cy="411480"/>
          </a:xfrm>
          <a:prstGeom prst="round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1848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FULLY PROTECTED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488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PR required for all changes — no direct pushes or commits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45059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Minimum 1 reviewer approval before 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5234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All CI/CD status checks must 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5409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Force pushes and branch deletion are disabled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55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Signed commits recommended (optional enforcement)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1051560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73152" cy="2560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97280" y="4160520"/>
            <a:ext cx="2011680" cy="41148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7880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STANDARD 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09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PR required for all changes — no direct pushes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10912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Minimum 1 reviewer approval before 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31266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CI/CD status checks must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1441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Force pushes disabled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91616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Branch deletion IS allowed (these are temporary branches)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6217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Relaxed: may allow maintainer override for time-sensitive releases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600200"/>
            <a:ext cx="5029200" cy="4114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618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Applies to:  main, develop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160520"/>
            <a:ext cx="5029200" cy="4114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41788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Applies to:  release/*, hotfix/*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Mandatory vs Optional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Not all long-lived branches are required — some depend on your team's Git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5029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0" y="1645920"/>
            <a:ext cx="1645920" cy="411480"/>
          </a:xfrm>
          <a:prstGeom prst="roundRect">
            <a:avLst/>
          </a:prstGeom>
          <a:solidFill>
            <a:srgbClr val="FF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642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4545"/>
                </a:solidFill>
                <a:latin typeface="Consolas"/>
              </a:defRPr>
            </a:pPr>
            <a:r>
              <a:t>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Production-ready code. Always exists.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Protection: Fully Protected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474720"/>
            <a:ext cx="4114800" cy="18288"/>
          </a:xfrm>
          <a:prstGeom prst="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FF"/>
                </a:solidFill>
                <a:latin typeface="Consolas"/>
              </a:defRPr>
            </a:pPr>
            <a:r>
              <a:t>feature/* | bugfix/* | hotfix/*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1148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Short-lived branches for individual work items.</a:t>
            </a:r>
            <a:br/>
            <a:r>
              <a:t>Always branch from main or develop.</a:t>
            </a:r>
            <a:br/>
            <a:r>
              <a:t>Always deleted after merge.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846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Protection: Not protected (ephemeral)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303520"/>
            <a:ext cx="4572000" cy="9144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4924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Ticket ID in branch name is MANDATORY</a:t>
            </a:r>
            <a:br/>
            <a:r>
              <a:t>for all feature/bugfix/hotfix branches.</a:t>
            </a:r>
            <a:br/>
            <a:r>
              <a:t>This is the primary traceability link.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463040"/>
            <a:ext cx="5029200" cy="5029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502920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0" y="1645920"/>
            <a:ext cx="2286000" cy="411480"/>
          </a:xfrm>
          <a:prstGeom prst="roundRect">
            <a:avLst/>
          </a:prstGeom>
          <a:solidFill>
            <a:srgbClr val="00C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6642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OPTIONAL (if used, protect 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286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00"/>
                </a:solidFill>
                <a:latin typeface="Consolas"/>
              </a:defRPr>
            </a:pPr>
            <a:r>
              <a:t>develop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974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Integration branch for teams using Gitflow.</a:t>
            </a:r>
            <a:br/>
            <a:r>
              <a:t>Feature branches merge here before release.</a:t>
            </a:r>
            <a:br/>
            <a:r>
              <a:t>If your team uses trunk-based development</a:t>
            </a:r>
            <a:br/>
            <a:r>
              <a:t>(feature branches merge directly to main),</a:t>
            </a:r>
            <a:br/>
            <a:r>
              <a:t>you do not need this branch.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611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If it exists: Fully Protected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114800"/>
            <a:ext cx="4114800" cy="18288"/>
          </a:xfrm>
          <a:prstGeom prst="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C97B"/>
                </a:solidFill>
                <a:latin typeface="Consolas"/>
              </a:defRPr>
            </a:pPr>
            <a:r>
              <a:t>release/*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7091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Stabilization branch created before a release.</a:t>
            </a:r>
            <a:br/>
            <a:r>
              <a:t>Only needed if you separate release prep from</a:t>
            </a:r>
            <a:br/>
            <a:r>
              <a:t>normal development. Temporary — deleted</a:t>
            </a:r>
            <a:br/>
            <a:r>
              <a:t>after merging to main.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623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If it exists: Standard Protected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6035040"/>
            <a:ext cx="4754880" cy="4114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6053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Rule: If a branch exists, it must be protected.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Branch Naming Convention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13716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Standard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7B"/>
                </a:solidFill>
                <a:latin typeface="Consolas"/>
              </a:defRPr>
            </a:pPr>
            <a:r>
              <a:t>&lt;type&gt;/&lt;ticket-id&gt;-&lt;short-description&gt;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Calibri"/>
              </a:defRPr>
            </a:pPr>
            <a:r>
              <a:t>Optional — with PI and Sprint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40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CFF"/>
                </a:solidFill>
                <a:latin typeface="Consolas"/>
              </a:defRPr>
            </a:pPr>
            <a:r>
              <a:t>&lt;type&gt;/pi&lt;N&gt;-s&lt;N&gt;/&lt;ticket-id&gt;-&lt;short-description&gt;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PREFIX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834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EXAMPLE  (with optional pi/sprint)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54680"/>
            <a:ext cx="10515600" cy="18288"/>
          </a:xfrm>
          <a:prstGeom prst="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246120"/>
            <a:ext cx="10515600" cy="475488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FF"/>
                </a:solidFill>
                <a:latin typeface="Consolas"/>
              </a:defRPr>
            </a:pPr>
            <a:r>
              <a:t>feature/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3192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New functionality tied to a user 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3192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feature/IS-1234-add-user-profile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CFF"/>
                </a:solidFill>
                <a:latin typeface="Consolas"/>
              </a:defRPr>
            </a:pPr>
            <a:r>
              <a:t>integration/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822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Multi-story feature (integration branch)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8221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integration/IS-200-user-onboarding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51960"/>
            <a:ext cx="10515600" cy="475488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297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onsolas"/>
              </a:defRPr>
            </a:pPr>
            <a:r>
              <a:t>bugfix/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325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Defect fix from backlog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32511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bugfix/IS-567-fix-login-timeout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00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onsolas"/>
              </a:defRPr>
            </a:pPr>
            <a:r>
              <a:t>hotfix/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828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Urgent production fix (branches from main)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2803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hotfix/IS-890-patch-auth-bypass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57800"/>
            <a:ext cx="10515600" cy="475488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303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onsolas"/>
              </a:defRPr>
            </a:pPr>
            <a:r>
              <a:t>chore/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330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Tech debt, refactoring, CI/CD updates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30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chore/IS-321-upgrade-spring-boot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onsolas"/>
              </a:defRPr>
            </a:pPr>
            <a:r>
              <a:t>release/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83387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Release stabilization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83387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release/v2.4.0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6400800"/>
            <a:ext cx="10515600" cy="475488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6446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85CFF"/>
                </a:solidFill>
                <a:latin typeface="Calibri"/>
              </a:defRPr>
            </a:pPr>
            <a:r>
              <a:t>with PI/Sprint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64739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Optional namespace for SAFe teams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647395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5CFF"/>
                </a:solidFill>
                <a:latin typeface="Consolas"/>
              </a:defRPr>
            </a:pPr>
            <a:r>
              <a:t>feature/pi3-s2/IS-1234-add-user-profile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6126480"/>
            <a:ext cx="10515600" cy="5029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6144768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Rules: 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Lowercase only  |  Hyphens as separators  |  IS-xxxx ticket ID mandatory  |  PI/Sprint optional  |  Delete after merge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Pull Request Standards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344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PR Title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C97B"/>
                </a:solidFill>
                <a:latin typeface="Consolas"/>
              </a:defRPr>
            </a:pPr>
            <a:r>
              <a:t>&lt;type&gt;(&lt;scope&gt;): &lt;ticket-id&gt; &lt;description&gt;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34640"/>
            <a:ext cx="54864" cy="32004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feat(auth): IS-1234 Add OAuth2 login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54864" cy="3200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fix(api): IS-567 Resolve timeout on bulk export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4864" cy="32004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hotfix(payments): IS-890 Patch null pointer in refund handler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480560"/>
            <a:ext cx="54864" cy="32004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  <a:r>
              <a:t>chore(ci): IS-321 Upgrade to Gradle 8.12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PR REQUIREMENTS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Link to ticket/user story in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At least 1 reviewer approval required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All CI checks must pass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No merge conflicts with target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Squash-merge to keep history clean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Delete source branch after merge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760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Include test evidence or test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Scope: one ticket per PR (preferred)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Commit Message Standard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Follow Conventional Commits (conventionalcommits.org)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C97B"/>
                </a:solidFill>
                <a:latin typeface="Consolas"/>
              </a:defRPr>
            </a:pPr>
            <a:r>
              <a:t>&lt;type&gt;(&lt;scope&gt;): &lt;short summary&gt;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371600" y="2468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[optional body — explain WHY, not WHAT]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889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onsola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1371600" y="31089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onsolas"/>
              </a:defRPr>
            </a:pPr>
            <a:r>
              <a:t>[optional footer]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8CFF"/>
                </a:solidFill>
                <a:latin typeface="Consolas"/>
              </a:defRPr>
            </a:pPr>
            <a:r>
              <a:t>Refs: IS-1234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4545"/>
                </a:solidFill>
                <a:latin typeface="Consolas"/>
              </a:defRPr>
            </a:pPr>
            <a:r>
              <a:t>BREAKING CHANGE: &lt;description&gt;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8CFF"/>
                </a:solidFill>
                <a:latin typeface="Calibri"/>
              </a:defRPr>
            </a:pPr>
            <a:r>
              <a:t>ALLOWED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feat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New feature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fix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Bug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82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782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Formatting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782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refactor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782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Restructure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782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478231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Add/fix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29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chore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129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Maintenance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5129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perf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5129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Performance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129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97B"/>
                </a:solidFill>
                <a:latin typeface="Consolas"/>
              </a:defRPr>
            </a:pPr>
            <a:r>
              <a:t>ci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1297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- CI/CD changes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0" y="4114800"/>
            <a:ext cx="5029200" cy="24688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0" y="4114800"/>
            <a:ext cx="73152" cy="246888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206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Calibri"/>
              </a:defRPr>
            </a:pPr>
            <a:r>
              <a:t>AUTOMATED TICKET INJECTION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5720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Ticket ID in commits is OPTIONAL for developers.</a:t>
            </a:r>
            <a:br/>
            <a:r>
              <a:t>A Git hook (prepare-commit-msg) or CI step</a:t>
            </a:r>
            <a:br/>
            <a:r>
              <a:t>automatically extracts the ticket ID from the</a:t>
            </a:r>
            <a:br/>
            <a:r>
              <a:t>branch name and appends it to each commit.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349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CFF"/>
                </a:solidFill>
                <a:latin typeface="Calibri"/>
              </a:defRPr>
            </a:pPr>
            <a:r>
              <a:t>How it works: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62356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1. Dev creates branch: feature/IS-1234-add-profile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8795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2. Dev commits: feat(user): add profile page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1356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3. Hook detects IS-1234 from branch name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639165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onsolas"/>
              </a:defRPr>
            </a:pPr>
            <a:r>
              <a:t>4. Commit becomes: feat(user): add profile page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66476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C97B"/>
                </a:solidFill>
                <a:latin typeface="Consolas"/>
              </a:defRPr>
            </a:pPr>
            <a:r>
              <a:t>   Refs: IS-1234   (auto-appended)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943600"/>
            <a:ext cx="5303520" cy="6400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" y="5989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8C00"/>
                </a:solidFill>
                <a:latin typeface="Calibri"/>
              </a:defRPr>
            </a:pPr>
            <a:r>
              <a:t>Ticket ID in commits: Optional (manual)</a:t>
            </a:r>
            <a:br/>
            <a:r>
              <a:t>Ticket ID in branch name &amp; PR title: Required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Feature Branch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371600"/>
            <a:ext cx="548640" cy="548640"/>
          </a:xfrm>
          <a:prstGeom prst="ellipse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73736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8CFF"/>
                </a:solidFill>
                <a:latin typeface="Calibri"/>
              </a:defRPr>
            </a:pPr>
            <a:r>
              <a:t>Pick Up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Assign user story in</a:t>
            </a:r>
            <a:br/>
            <a:r>
              <a:t>project board.</a:t>
            </a:r>
            <a:br/>
            <a:r>
              <a:t>Status: In Progress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1371600"/>
            <a:ext cx="548640" cy="548640"/>
          </a:xfrm>
          <a:prstGeom prst="ellipse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2103120"/>
            <a:ext cx="173736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460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8CFF"/>
                </a:solidFill>
                <a:latin typeface="Calibri"/>
              </a:defRPr>
            </a:pPr>
            <a:r>
              <a:t>Create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517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Branch from develop:</a:t>
            </a:r>
            <a:br/>
            <a:r>
              <a:t>feature/IS-1234-</a:t>
            </a:r>
            <a:br/>
            <a:r>
              <a:t>add-user-profile</a:t>
            </a:r>
          </a:p>
        </p:txBody>
      </p:sp>
      <p:sp>
        <p:nvSpPr>
          <p:cNvPr id="16" name="Oval 15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103120"/>
            <a:ext cx="173736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97B"/>
                </a:solidFill>
                <a:latin typeface="Calibri"/>
              </a:defRPr>
            </a:pPr>
            <a:r>
              <a:t>Develop &amp; Commit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517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Commit early and often.</a:t>
            </a:r>
            <a:br/>
            <a:r>
              <a:t>Conventional commits.</a:t>
            </a:r>
            <a:br/>
            <a:r>
              <a:t>Ref ticket in footer.</a:t>
            </a:r>
          </a:p>
        </p:txBody>
      </p:sp>
      <p:sp>
        <p:nvSpPr>
          <p:cNvPr id="22" name="Oval 21"/>
          <p:cNvSpPr/>
          <p:nvPr/>
        </p:nvSpPr>
        <p:spPr>
          <a:xfrm>
            <a:off x="6812280" y="1371600"/>
            <a:ext cx="548640" cy="54864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2103120"/>
            <a:ext cx="173736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C97B"/>
                </a:solidFill>
                <a:latin typeface="Calibri"/>
              </a:defRPr>
            </a:pPr>
            <a:r>
              <a:t>Open PR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PR to develop.</a:t>
            </a:r>
            <a:br/>
            <a:r>
              <a:t>Link story in description.</a:t>
            </a:r>
            <a:br/>
            <a:r>
              <a:t>Request reviewer.</a:t>
            </a:r>
          </a:p>
        </p:txBody>
      </p:sp>
      <p:sp>
        <p:nvSpPr>
          <p:cNvPr id="28" name="Oval 27"/>
          <p:cNvSpPr/>
          <p:nvPr/>
        </p:nvSpPr>
        <p:spPr>
          <a:xfrm>
            <a:off x="8732520" y="137160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2103120"/>
            <a:ext cx="173736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Calibri"/>
              </a:defRPr>
            </a:pPr>
            <a:r>
              <a:t>Review &amp; 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26517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1+ approval required.</a:t>
            </a:r>
            <a:br/>
            <a:r>
              <a:t>CI checks pass.</a:t>
            </a:r>
            <a:br/>
            <a:r>
              <a:t>No merge conflicts.</a:t>
            </a:r>
          </a:p>
        </p:txBody>
      </p:sp>
      <p:sp>
        <p:nvSpPr>
          <p:cNvPr id="34" name="Oval 33"/>
          <p:cNvSpPr/>
          <p:nvPr/>
        </p:nvSpPr>
        <p:spPr>
          <a:xfrm>
            <a:off x="10652760" y="1371600"/>
            <a:ext cx="548640" cy="54864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52760" y="144475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0" y="2103120"/>
            <a:ext cx="173736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2240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8C00"/>
                </a:solidFill>
                <a:latin typeface="Calibri"/>
              </a:defRPr>
            </a:pPr>
            <a:r>
              <a:t>Merge &amp; Clean 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95560" y="265176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Squash-merge to develop.</a:t>
            </a:r>
            <a:br/>
            <a:r>
              <a:t>Delete feature branch.</a:t>
            </a:r>
            <a:br/>
            <a:r>
              <a:t>Story → Done.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4754880"/>
            <a:ext cx="10515600" cy="18288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4545"/>
                </a:solidFill>
                <a:latin typeface="Calibri"/>
              </a:defRPr>
            </a:pPr>
            <a:r>
              <a:t>HOTFIX EXCEPTION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onsolas"/>
              </a:defRPr>
            </a:pPr>
            <a:r>
              <a:t>1. Branch from main (not develop):  hotfix/IS-890-patch-auth-bypass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71600" y="5559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2. Fix, test, open PR to main with expedited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907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3. After merging to main, immediately merge main back to develop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62544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4. Hotfixes still require PR approval — no direct pushes to main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Work Item Hierarchy &amp; Branch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Every feature has at least one user story — the ticket prefix in the branch name determines the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5029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5486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CFF"/>
                </a:solidFill>
                <a:latin typeface="Calibri"/>
              </a:defRPr>
            </a:pPr>
            <a:r>
              <a:t>YOUR WORK ITEM HIERARCHY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03120"/>
            <a:ext cx="4572000" cy="9144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4864" cy="91440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CFF"/>
                </a:solidFill>
                <a:latin typeface="Consolas"/>
              </a:defRPr>
            </a:pPr>
            <a:r>
              <a:t>IS-100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48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Calibri"/>
              </a:defRPr>
            </a:pPr>
            <a:r>
              <a:t>Epic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45059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Strategic initiative or large body of work.</a:t>
            </a:r>
            <a:br/>
            <a:r>
              <a:t>Planning container only — never branched.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148840"/>
            <a:ext cx="1463040" cy="32004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216712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88899"/>
                </a:solidFill>
                <a:latin typeface="Calibri"/>
              </a:defRPr>
            </a:pPr>
            <a:r>
              <a:t>No Branch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51560" y="3200400"/>
            <a:ext cx="4434840" cy="9144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3200400"/>
            <a:ext cx="54864" cy="9144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4440" y="3246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FF"/>
                </a:solidFill>
                <a:latin typeface="Consolas"/>
              </a:defRPr>
            </a:pPr>
            <a:r>
              <a:t>IS-200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32461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547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Deliverable capability within an epic.</a:t>
            </a:r>
            <a:br/>
            <a:r>
              <a:t>Always has 1 or more user stories.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0" y="3246120"/>
            <a:ext cx="1463040" cy="32004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0" y="326440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Conditional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297680"/>
            <a:ext cx="4297680" cy="9144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88720" y="4297680"/>
            <a:ext cx="54864" cy="914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4343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onsolas"/>
              </a:defRPr>
            </a:pPr>
            <a:r>
              <a:t>IS-1234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343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User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645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Single piece of user-facing value.</a:t>
            </a:r>
            <a:br/>
            <a:r>
              <a:t>The primary unit of work for developers.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0" y="4343400"/>
            <a:ext cx="1463040" cy="320040"/>
          </a:xfrm>
          <a:prstGeom prst="roundRect">
            <a:avLst/>
          </a:prstGeom>
          <a:solidFill>
            <a:srgbClr val="00C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436168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Always Branch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5394960"/>
            <a:ext cx="4160520" cy="9144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325880" y="5394960"/>
            <a:ext cx="54864" cy="914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08760" y="5440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onsolas"/>
              </a:defRPr>
            </a:pPr>
            <a:r>
              <a:t>IS-5678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5440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88899"/>
                </a:solidFill>
                <a:latin typeface="Calibri"/>
              </a:defRPr>
            </a:pPr>
            <a:r>
              <a:t>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74243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Technical sub-unit of a story.</a:t>
            </a:r>
            <a:br/>
            <a:r>
              <a:t>Usually tracked within the story's branch.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0" y="5440680"/>
            <a:ext cx="1463040" cy="320040"/>
          </a:xfrm>
          <a:prstGeom prst="roundRect">
            <a:avLst/>
          </a:prstGeom>
          <a:solidFill>
            <a:srgbClr val="888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54589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Rarely Branch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463040"/>
            <a:ext cx="5029200" cy="5029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1463040"/>
            <a:ext cx="5029200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16459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FF"/>
                </a:solidFill>
                <a:latin typeface="Calibri"/>
              </a:defRPr>
            </a:pPr>
            <a:r>
              <a:t>TWO BRANCHING PATTERNS (both allowed)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201168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The branch type prefix determines the pattern: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468880"/>
            <a:ext cx="4663440" cy="146304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2468880"/>
            <a:ext cx="54864" cy="146304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83680" y="2560320"/>
            <a:ext cx="1280160" cy="320040"/>
          </a:xfrm>
          <a:prstGeom prst="roundRect">
            <a:avLst/>
          </a:prstGeom>
          <a:solidFill>
            <a:srgbClr val="00C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25786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feature/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0" y="2578608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alibri"/>
              </a:defRPr>
            </a:pPr>
            <a:r>
              <a:t>Pattern A — Single Story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2971800"/>
            <a:ext cx="4206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Feature has 1 user story.</a:t>
            </a:r>
            <a:br/>
            <a:r>
              <a:t>Branch at story level, PR to main/develop.</a:t>
            </a:r>
            <a:br/>
            <a:br/>
            <a:r>
              <a:t>feature/IS-1234-signup-form → main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114800"/>
            <a:ext cx="4663440" cy="20116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114800"/>
            <a:ext cx="54864" cy="201168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583680" y="4206240"/>
            <a:ext cx="1645920" cy="32004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4224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integration/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2245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Pattern B — Multi-Story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75120" y="461772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Feature has 2+ user stories.</a:t>
            </a:r>
            <a:br/>
            <a:r>
              <a:t>Integration branch at feature level.</a:t>
            </a:r>
            <a:br/>
            <a:r>
              <a:t>Story branches merge into it.</a:t>
            </a:r>
            <a:br/>
            <a:br/>
            <a:r>
              <a:t>integration/IS-200-onboarding → main</a:t>
            </a:r>
            <a:br/>
            <a:r>
              <a:t>  ← feature/IS-1234-signup</a:t>
            </a:r>
            <a:br/>
            <a:r>
              <a:t>  ← feature/IS-1235-verify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6675120"/>
            <a:ext cx="10515600" cy="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Pattern A: Single-Story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Feature has one user story — branch directly at story level (most common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22860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103120"/>
            <a:ext cx="914400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onsolas"/>
              </a:defRPr>
            </a:pPr>
            <a:r>
              <a:t>main / develop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2139696"/>
            <a:ext cx="36576" cy="914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3017520"/>
            <a:ext cx="50292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2139696"/>
            <a:ext cx="36576" cy="9144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743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  <a:latin typeface="Consolas"/>
              </a:defRPr>
            </a:pPr>
            <a:r>
              <a:t>feature/IS-1234-signup-form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squash-merge PR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5029200" cy="2743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73152" cy="274320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WHEN TO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480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Feature maps to exactly 1 user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280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One developer (or pair) owns the full scope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755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Work can be completed in a single 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2297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Story is independently releasable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9436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8C00"/>
                </a:solidFill>
                <a:latin typeface="Calibri"/>
              </a:defRPr>
            </a:pPr>
            <a:r>
              <a:t>This is the default. Use this unless the feature</a:t>
            </a:r>
            <a:br/>
            <a:r>
              <a:t>has multiple stories.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931920"/>
            <a:ext cx="5029200" cy="2743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73152" cy="274320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023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FF"/>
                </a:solidFill>
                <a:latin typeface="Calibri"/>
              </a:defRPr>
            </a:pPr>
            <a:r>
              <a:t>LIFECYCLE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434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CFF"/>
                </a:solidFill>
                <a:latin typeface="Calibri"/>
              </a:defRPr>
            </a:pPr>
            <a:r>
              <a:t>1. Pick up 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4348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Assign IS-1234 on project 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188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CFF"/>
                </a:solidFill>
                <a:latin typeface="Calibri"/>
              </a:defRPr>
            </a:pPr>
            <a:r>
              <a:t>2. Create branch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48188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feature/IS-1234-signup-form from main/develop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520293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CFF"/>
                </a:solidFill>
                <a:latin typeface="Calibri"/>
              </a:defRPr>
            </a:pPr>
            <a:r>
              <a:t>3. Develop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520293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Commit with conventional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869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CFF"/>
                </a:solidFill>
                <a:latin typeface="Calibri"/>
              </a:defRPr>
            </a:pPr>
            <a:r>
              <a:t>4. Open PR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5586984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PR title: feat(auth): IS-1234 Add signup 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9710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CFF"/>
                </a:solidFill>
                <a:latin typeface="Calibri"/>
              </a:defRPr>
            </a:pPr>
            <a:r>
              <a:t>5. Review + merge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971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Squash-merge, delete branch, story → Done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6400800"/>
            <a:ext cx="4663440" cy="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Pattern B: Multi-Story Feature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Feature has 2+ user stories — create a feature integration branch, story branches merge into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29260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828800"/>
            <a:ext cx="9144000" cy="36576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onsolas"/>
              </a:defRPr>
            </a:pPr>
            <a:r>
              <a:t>main / develop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865376"/>
            <a:ext cx="36576" cy="73152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2560320"/>
            <a:ext cx="6858000" cy="36576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0" y="1865376"/>
            <a:ext cx="36576" cy="73152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onsolas"/>
              </a:defRPr>
            </a:pPr>
            <a:r>
              <a:t>integration/IS-200-user-onboarding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596896"/>
            <a:ext cx="36576" cy="6400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0" y="3200400"/>
            <a:ext cx="22860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2596896"/>
            <a:ext cx="36576" cy="6400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Consolas"/>
              </a:defRPr>
            </a:pPr>
            <a:r>
              <a:t>feature/IS-1234-signup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596896"/>
            <a:ext cx="36576" cy="6400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2286000" cy="36576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0" y="2596896"/>
            <a:ext cx="36576" cy="6400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246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C97B"/>
                </a:solidFill>
                <a:latin typeface="Consolas"/>
              </a:defRPr>
            </a:pPr>
            <a:r>
              <a:t>feature/IS-1235-verify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920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Calibri"/>
              </a:defRPr>
            </a:pPr>
            <a:r>
              <a:t>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692640" y="15087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88899"/>
                </a:solidFill>
                <a:latin typeface="Calibri"/>
              </a:defRPr>
            </a:pPr>
            <a:r>
              <a:t>final 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↑ PR into integration branch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99"/>
                </a:solidFill>
                <a:latin typeface="Calibri"/>
              </a:defRPr>
            </a:pPr>
            <a:r>
              <a:t>↑ PR into integration branch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5029200" cy="24688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73152" cy="246888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892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✓  integration/ prefix triggers this pattern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212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✓  Story branches PR into integration branch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532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✓  Each story gets its own PR +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852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✓  Integration branch PRs into main/develop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6172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✓  Integration branch is Standard Protected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6492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✓  Story branches deleted after merge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389120"/>
            <a:ext cx="5029200" cy="24688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389120"/>
            <a:ext cx="73152" cy="246888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480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WHEN TO 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892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✓  Feature decomposes into 2 or more user stories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239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✓  Multiple developers working on the same feature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5869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✓  Stories need to be integrated before release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9344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✓  Feature needs to be tested as a whole before merging to main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6355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8C00"/>
                </a:solidFill>
                <a:latin typeface="Calibri"/>
              </a:defRPr>
            </a:pPr>
            <a:r>
              <a:t>WHY NOT JUST MERGE STORIES DIRECTLY?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66294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  <a:latin typeface="Calibri"/>
              </a:defRPr>
            </a:pPr>
            <a:r>
              <a:t>Stories may depend on each other. The feature</a:t>
            </a:r>
            <a:br/>
            <a:r>
              <a:t>branch lets you integrate and test them together</a:t>
            </a:r>
            <a:br/>
            <a:r>
              <a:t>before they hit main.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Traceability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Every artifact links back to the originating requirement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645920"/>
            <a:ext cx="17373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737360" cy="5486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CFF"/>
                </a:solidFill>
                <a:latin typeface="Calibri"/>
              </a:defRPr>
            </a:pPr>
            <a:r>
              <a:t>Epic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IS-100</a:t>
            </a:r>
            <a:br/>
            <a:r>
              <a:t>Planning only</a:t>
            </a:r>
            <a:br/>
            <a:r>
              <a:t>No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645920"/>
            <a:ext cx="17373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1645920"/>
            <a:ext cx="1737360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8C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517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IS-200</a:t>
            </a:r>
            <a:br/>
            <a:r>
              <a:t>integration/ branch</a:t>
            </a:r>
            <a:br/>
            <a:r>
              <a:t>(if multi-story)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1645920"/>
            <a:ext cx="17373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645920"/>
            <a:ext cx="173736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User 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6517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IS-1234</a:t>
            </a:r>
            <a:br/>
            <a:r>
              <a:t>feature/ branch</a:t>
            </a:r>
            <a:br/>
            <a:r>
              <a:t>(default level)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1645920"/>
            <a:ext cx="17373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645920"/>
            <a:ext cx="173736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97B"/>
                </a:solidFill>
                <a:latin typeface="Calibri"/>
              </a:defRPr>
            </a:pPr>
            <a:r>
              <a:t>Branch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6517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feature/IS-1234-</a:t>
            </a:r>
            <a:br/>
            <a:r>
              <a:t>add-profile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645920"/>
            <a:ext cx="17373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1645920"/>
            <a:ext cx="17373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8C00"/>
                </a:solidFill>
                <a:latin typeface="Calibri"/>
              </a:defRPr>
            </a:pPr>
            <a:r>
              <a:t>Pull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6517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feat(user): IS-1234</a:t>
            </a:r>
            <a:br/>
            <a:r>
              <a:t>Add user 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1645920"/>
            <a:ext cx="17373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6960" y="1645920"/>
            <a:ext cx="173736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182880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4545"/>
                </a:solidFill>
                <a:latin typeface="Calibri"/>
              </a:defRPr>
            </a:pPr>
            <a:r>
              <a:t>Release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265176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onsolas"/>
              </a:defRPr>
            </a:pPr>
            <a:r>
              <a:t>release/v2.4.0</a:t>
            </a:r>
            <a:br/>
            <a:r>
              <a:t>Includes: IS-1234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754880"/>
            <a:ext cx="10515600" cy="18288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CFF"/>
                </a:solidFill>
                <a:latin typeface="Calibri"/>
              </a:defRPr>
            </a:pPr>
            <a:r>
              <a:t>AUDIT QUERIES THIS ENABLES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212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"What code changed for IS-1234?"  →  Search branches &amp; PRs by ticket 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5595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"Who approved the change?"  →  PR approval history with reviewer names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9070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"Which release included this fix?"  →  Release branch contains merged 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62544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"What was the business justification?"  →  PR links to user story with acceptance criteria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Commit Traceability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  <a:latin typeface="Calibri"/>
              </a:defRPr>
            </a:pPr>
            <a:r>
              <a:t>Developers focus on code — tooling handles traceability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210312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REQUIRED (enforced by CI)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Ticket ID in branch 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Ticket ID in PR title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15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Conventional commit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626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PR linked to ticket in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02920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73152" cy="2103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630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OPTIONAL (handled by automation)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Ticket ID in commit message body/footer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Refs: footer in each commit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615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Cross-referencing related tickets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626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Linking commits to deployment artifacts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85CFF"/>
                </a:solidFill>
                <a:latin typeface="Calibri"/>
              </a:defRPr>
            </a:pPr>
            <a:r>
              <a:t>AUTOMATION PIPELINE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14800"/>
            <a:ext cx="26517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114800"/>
            <a:ext cx="2651760" cy="54864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194560" y="4251960"/>
            <a:ext cx="731520" cy="320040"/>
          </a:xfrm>
          <a:prstGeom prst="roundRect">
            <a:avLst/>
          </a:prstGeom>
          <a:solidFill>
            <a:srgbClr val="A8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4270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51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CFF"/>
                </a:solidFill>
                <a:latin typeface="Calibri"/>
              </a:defRPr>
            </a:pPr>
            <a:r>
              <a:t>prepare-commit-msg</a:t>
            </a:r>
            <a:br/>
            <a:r>
              <a:t>Git Hook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Runs locally on each commit.</a:t>
            </a:r>
            <a:br/>
            <a:r>
              <a:t>Extracts ticket ID from branch</a:t>
            </a:r>
            <a:br/>
            <a:r>
              <a:t>name and appends</a:t>
            </a:r>
            <a:br/>
            <a:r>
              <a:t>Refs: &lt;ticket-id&gt; to the</a:t>
            </a:r>
            <a:br/>
            <a:r>
              <a:t>commit message footer.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114800"/>
            <a:ext cx="26517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114800"/>
            <a:ext cx="2651760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120640" y="4251960"/>
            <a:ext cx="731520" cy="320040"/>
          </a:xfrm>
          <a:prstGeom prst="roundRect">
            <a:avLst/>
          </a:prstGeom>
          <a:solidFill>
            <a:srgbClr val="00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20640" y="4270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251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CFF"/>
                </a:solidFill>
                <a:latin typeface="Calibri"/>
              </a:defRPr>
            </a:pPr>
            <a:r>
              <a:t>Branch Name</a:t>
            </a:r>
            <a:br/>
            <a:r>
              <a:t>Validator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892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CI step runs on PR open.</a:t>
            </a:r>
            <a:br/>
            <a:r>
              <a:t>Rejects PRs from branches</a:t>
            </a:r>
            <a:br/>
            <a:r>
              <a:t>that don't match the pattern:</a:t>
            </a:r>
            <a:br/>
            <a:r>
              <a:t>&lt;type&gt;/&lt;TICKET-ID&gt;-&lt;desc&gt;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114800"/>
            <a:ext cx="26517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114800"/>
            <a:ext cx="265176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046720" y="4251960"/>
            <a:ext cx="731520" cy="32004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270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251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PR Title</a:t>
            </a:r>
            <a:br/>
            <a:r>
              <a:t>Validator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892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CI step checks PR title</a:t>
            </a:r>
            <a:br/>
            <a:r>
              <a:t>matches conventional format</a:t>
            </a:r>
            <a:br/>
            <a:r>
              <a:t>with ticket ID.</a:t>
            </a:r>
            <a:br/>
            <a:r>
              <a:t>Blocks merge if invalid.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5029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35440" y="4114800"/>
            <a:ext cx="265176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35440" y="4114800"/>
            <a:ext cx="265176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972800" y="4251960"/>
            <a:ext cx="731520" cy="320040"/>
          </a:xfrm>
          <a:prstGeom prst="roundRect">
            <a:avLst/>
          </a:prstGeom>
          <a:solidFill>
            <a:srgbClr val="00C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72800" y="427024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2519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  <a:latin typeface="Calibri"/>
              </a:defRPr>
            </a:pPr>
            <a:r>
              <a:t>Merge Commit</a:t>
            </a:r>
            <a:br/>
            <a:r>
              <a:t>Tagger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489204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On squash-merge, the merge</a:t>
            </a:r>
            <a:br/>
            <a:r>
              <a:t>commit automatically includes</a:t>
            </a:r>
            <a:br/>
            <a:r>
              <a:t>the PR number and ticket ID</a:t>
            </a:r>
            <a:br/>
            <a:r>
              <a:t>in the final commit message.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521208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8CFF"/>
                </a:solidFill>
                <a:latin typeface="Calibri"/>
              </a:defRPr>
            </a:pPr>
            <a:r>
              <a:t>BRANCH NAMING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feature/IS-xxxx-short-desc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feature/pi3-s2/IS-xxxx-short-desc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integration/IS-xxxx-short-desc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bugfix/IS-xxxx-short-desc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hotfix/IS-xxxx-short-desc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chore/IS-xxxx-short-desc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389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release/vX.Y.Z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114800"/>
            <a:ext cx="4389120" cy="18288"/>
          </a:xfrm>
          <a:prstGeom prst="rect">
            <a:avLst/>
          </a:prstGeom>
          <a:solidFill>
            <a:srgbClr val="26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PR TITLE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feat(scope): IS-xxxx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fix(scope): IS-xxxx 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77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hotfix(scope): IS-xxxx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onsolas"/>
              </a:defRPr>
            </a:pPr>
            <a:r>
              <a:t>chore(scope): IS-xxxx Description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188720"/>
            <a:ext cx="5212080" cy="237744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188720"/>
            <a:ext cx="5212080" cy="54864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97B"/>
                </a:solidFill>
                <a:latin typeface="Calibri"/>
              </a:defRPr>
            </a:pPr>
            <a:r>
              <a:t>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Include ticket ID in branch name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One ticket per branch / 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651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Squash-merge feature branches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✓  Delete branch after merge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840480"/>
            <a:ext cx="5212080" cy="25603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840480"/>
            <a:ext cx="5212080" cy="54864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023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4545"/>
                </a:solidFill>
                <a:latin typeface="Calibri"/>
              </a:defRPr>
            </a:pPr>
            <a:r>
              <a:t>DON'T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✗  Push directly to main or develop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✗  Use vague branch names (my-fix, test-2)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✗  Merge without PR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✗  Leave stale branches after merge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6035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✗  Skip ticket ID in branch or PR title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Enforcement &amp;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73152" cy="2103120"/>
          </a:xfrm>
          <a:prstGeom prst="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CFF"/>
                </a:solidFill>
                <a:latin typeface="Calibri"/>
              </a:defRPr>
            </a:pPr>
            <a:r>
              <a:t>GitHub Branch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Enforce PR reviews, status checks,</a:t>
            </a:r>
            <a:br/>
            <a:r>
              <a:t>and prevent force pushes on</a:t>
            </a:r>
            <a:br/>
            <a:r>
              <a:t>main and develop.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onsolas"/>
              </a:defRPr>
            </a:pPr>
            <a:r>
              <a:t>Settings → Branches → Add Rule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73152" cy="2103120"/>
          </a:xfrm>
          <a:prstGeom prst="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17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  <a:latin typeface="Calibri"/>
              </a:defRPr>
            </a:pPr>
            <a:r>
              <a:t>Branch Name Lint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920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CI job validates branch name</a:t>
            </a:r>
            <a:br/>
            <a:r>
              <a:t>matches regex pattern.</a:t>
            </a:r>
            <a:br/>
            <a:r>
              <a:t>Blocks PR if non-compliant.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onsolas"/>
              </a:defRPr>
            </a:pPr>
            <a:r>
              <a:t>^(feature|integration|bugfix|hotfix|chore|release)/(pi\d+-s\d+/)?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657600"/>
            <a:ext cx="73152" cy="21031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PR Title Lint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GitHub Action or CI step validates</a:t>
            </a:r>
            <a:br/>
            <a:r>
              <a:t>PR title follows conventional</a:t>
            </a:r>
            <a:br/>
            <a:r>
              <a:t>commit format.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onsolas"/>
              </a:defRPr>
            </a:pPr>
            <a:r>
              <a:t>commitlint or semantic-pr-title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0"/>
            <a:ext cx="5212080" cy="210312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657600"/>
            <a:ext cx="73152" cy="2103120"/>
          </a:xfrm>
          <a:prstGeom prst="rect">
            <a:avLst/>
          </a:prstGeom>
          <a:solidFill>
            <a:srgbClr val="A8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886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CFF"/>
                </a:solidFill>
                <a:latin typeface="Calibri"/>
              </a:defRPr>
            </a:pPr>
            <a:r>
              <a:t>Commit Message Hook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3891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pre-commit hook or CI check</a:t>
            </a:r>
            <a:br/>
            <a:r>
              <a:t>enforces conventional commits.</a:t>
            </a:r>
            <a:br/>
            <a:r>
              <a:t>Rejects non-compliant messages.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99"/>
                </a:solidFill>
                <a:latin typeface="Consolas"/>
              </a:defRPr>
            </a:pPr>
            <a:r>
              <a:t>commitlint + husky (local hooks)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6217920"/>
            <a:ext cx="10515600" cy="457200"/>
          </a:xfrm>
          <a:prstGeom prst="roundRect">
            <a:avLst/>
          </a:prstGeom>
          <a:solidFill>
            <a:srgbClr val="262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23620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8C00"/>
                </a:solidFill>
                <a:latin typeface="Calibri"/>
              </a:defRPr>
            </a:pPr>
            <a:r>
              <a:t>Automate enforcement wherever possible — convention without enforcement is just a suggestion.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